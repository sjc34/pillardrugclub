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Bold" charset="1" panose="00000800000000000000"/>
      <p:regular r:id="rId17"/>
    </p:embeddedFont>
    <p:embeddedFont>
      <p:font typeface="Montserrat" charset="1" panose="00000500000000000000"/>
      <p:regular r:id="rId18"/>
    </p:embeddedFont>
    <p:embeddedFont>
      <p:font typeface="Montserrat Classic" charset="1" panose="00000500000000000000"/>
      <p:regular r:id="rId19"/>
    </p:embeddedFont>
    <p:embeddedFont>
      <p:font typeface="Montserrat Classic Bold" charset="1" panose="00000800000000000000"/>
      <p:regular r:id="rId20"/>
    </p:embeddedFont>
    <p:embeddedFont>
      <p:font typeface="Montserrat Bold Italics" charset="1" panose="00000800000000000000"/>
      <p:regular r:id="rId21"/>
    </p:embeddedFont>
    <p:embeddedFont>
      <p:font typeface="Montserrat Italic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jpeg" Type="http://schemas.openxmlformats.org/officeDocument/2006/relationships/image"/><Relationship Id="rId9"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jpeg" Type="http://schemas.openxmlformats.org/officeDocument/2006/relationships/image"/><Relationship Id="rId9"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2.png" Type="http://schemas.openxmlformats.org/officeDocument/2006/relationships/image"/><Relationship Id="rId9"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jpe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2.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https://www.kff.org/health-costs/issue-brief/prescription-drug-trends/"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8.jpeg" Type="http://schemas.openxmlformats.org/officeDocument/2006/relationships/image"/><Relationship Id="rId7" Target="../media/image29.jpeg" Type="http://schemas.openxmlformats.org/officeDocument/2006/relationships/image"/><Relationship Id="rId8"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0.png" Type="http://schemas.openxmlformats.org/officeDocument/2006/relationships/image"/><Relationship Id="rId5" Target="../media/image2.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37.png" Type="http://schemas.openxmlformats.org/officeDocument/2006/relationships/image"/><Relationship Id="rId14" Target="../media/image38.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pn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media/image3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333" t="0" r="-33333" b="0"/>
            </a:stretch>
          </a:blipFill>
        </p:spPr>
      </p:sp>
      <p:sp>
        <p:nvSpPr>
          <p:cNvPr name="AutoShape 3" id="3"/>
          <p:cNvSpPr/>
          <p:nvPr/>
        </p:nvSpPr>
        <p:spPr>
          <a:xfrm rot="0">
            <a:off x="9700082" y="5386388"/>
            <a:ext cx="8587918" cy="0"/>
          </a:xfrm>
          <a:prstGeom prst="line">
            <a:avLst/>
          </a:prstGeom>
          <a:ln cap="rnd" w="9525">
            <a:solidFill>
              <a:srgbClr val="365B6D"/>
            </a:solidFill>
            <a:prstDash val="solid"/>
            <a:headEnd type="none" len="sm" w="sm"/>
            <a:tailEnd type="none" len="sm" w="sm"/>
          </a:ln>
        </p:spPr>
      </p:sp>
      <p:sp>
        <p:nvSpPr>
          <p:cNvPr name="TextBox 4" id="4"/>
          <p:cNvSpPr txBox="true"/>
          <p:nvPr/>
        </p:nvSpPr>
        <p:spPr>
          <a:xfrm rot="0">
            <a:off x="1285325" y="7668281"/>
            <a:ext cx="4491513" cy="485732"/>
          </a:xfrm>
          <a:prstGeom prst="rect">
            <a:avLst/>
          </a:prstGeom>
        </p:spPr>
        <p:txBody>
          <a:bodyPr anchor="t" rtlCol="false" tIns="0" lIns="0" bIns="0" rIns="0">
            <a:spAutoFit/>
          </a:bodyPr>
          <a:lstStyle/>
          <a:p>
            <a:pPr algn="l" marL="0" indent="0" lvl="0">
              <a:lnSpc>
                <a:spcPts val="3900"/>
              </a:lnSpc>
            </a:pPr>
          </a:p>
        </p:txBody>
      </p:sp>
      <p:sp>
        <p:nvSpPr>
          <p:cNvPr name="Freeform 5" id="5"/>
          <p:cNvSpPr/>
          <p:nvPr/>
        </p:nvSpPr>
        <p:spPr>
          <a:xfrm flipH="false" flipV="false" rot="0">
            <a:off x="762466" y="1914981"/>
            <a:ext cx="6296298" cy="6072481"/>
          </a:xfrm>
          <a:custGeom>
            <a:avLst/>
            <a:gdLst/>
            <a:ahLst/>
            <a:cxnLst/>
            <a:rect r="r" b="b" t="t" l="l"/>
            <a:pathLst>
              <a:path h="6072481" w="6296298">
                <a:moveTo>
                  <a:pt x="0" y="0"/>
                </a:moveTo>
                <a:lnTo>
                  <a:pt x="6296298" y="0"/>
                </a:lnTo>
                <a:lnTo>
                  <a:pt x="6296298" y="6072481"/>
                </a:lnTo>
                <a:lnTo>
                  <a:pt x="0" y="6072481"/>
                </a:lnTo>
                <a:lnTo>
                  <a:pt x="0" y="0"/>
                </a:lnTo>
                <a:close/>
              </a:path>
            </a:pathLst>
          </a:custGeom>
          <a:blipFill>
            <a:blip r:embed="rId3"/>
            <a:stretch>
              <a:fillRect l="0" t="0" r="0" b="-11964"/>
            </a:stretch>
          </a:blipFill>
        </p:spPr>
      </p:sp>
      <p:grpSp>
        <p:nvGrpSpPr>
          <p:cNvPr name="Group 6" id="6"/>
          <p:cNvGrpSpPr/>
          <p:nvPr/>
        </p:nvGrpSpPr>
        <p:grpSpPr>
          <a:xfrm rot="0">
            <a:off x="9700082" y="1807320"/>
            <a:ext cx="7252448" cy="1464708"/>
            <a:chOff x="0" y="0"/>
            <a:chExt cx="9669930" cy="1952944"/>
          </a:xfrm>
        </p:grpSpPr>
        <p:sp>
          <p:nvSpPr>
            <p:cNvPr name="TextBox 7" id="7"/>
            <p:cNvSpPr txBox="true"/>
            <p:nvPr/>
          </p:nvSpPr>
          <p:spPr>
            <a:xfrm rot="0">
              <a:off x="0" y="-28575"/>
              <a:ext cx="9669930" cy="638118"/>
            </a:xfrm>
            <a:prstGeom prst="rect">
              <a:avLst/>
            </a:prstGeom>
          </p:spPr>
          <p:txBody>
            <a:bodyPr anchor="t" rtlCol="false" tIns="0" lIns="0" bIns="0" rIns="0">
              <a:spAutoFit/>
            </a:bodyPr>
            <a:lstStyle/>
            <a:p>
              <a:pPr algn="l" marL="0" indent="0" lvl="0">
                <a:lnSpc>
                  <a:spcPts val="3900"/>
                </a:lnSpc>
              </a:pPr>
              <a:r>
                <a:rPr lang="en-US" b="true" sz="3000">
                  <a:solidFill>
                    <a:srgbClr val="0C615D"/>
                  </a:solidFill>
                  <a:latin typeface="Montserrat Bold"/>
                  <a:ea typeface="Montserrat Bold"/>
                  <a:cs typeface="Montserrat Bold"/>
                  <a:sym typeface="Montserrat Bold"/>
                </a:rPr>
                <a:t>Address</a:t>
              </a:r>
            </a:p>
          </p:txBody>
        </p:sp>
        <p:sp>
          <p:nvSpPr>
            <p:cNvPr name="TextBox 8" id="8"/>
            <p:cNvSpPr txBox="true"/>
            <p:nvPr/>
          </p:nvSpPr>
          <p:spPr>
            <a:xfrm rot="0">
              <a:off x="0" y="933364"/>
              <a:ext cx="9669930" cy="1019580"/>
            </a:xfrm>
            <a:prstGeom prst="rect">
              <a:avLst/>
            </a:prstGeom>
          </p:spPr>
          <p:txBody>
            <a:bodyPr anchor="t" rtlCol="false" tIns="0" lIns="0" bIns="0" rIns="0">
              <a:spAutoFit/>
            </a:bodyPr>
            <a:lstStyle/>
            <a:p>
              <a:pPr algn="l">
                <a:lnSpc>
                  <a:spcPts val="3119"/>
                </a:lnSpc>
              </a:pPr>
              <a:r>
                <a:rPr lang="en-US" sz="2399">
                  <a:solidFill>
                    <a:srgbClr val="0C615D"/>
                  </a:solidFill>
                  <a:latin typeface="Montserrat"/>
                  <a:ea typeface="Montserrat"/>
                  <a:cs typeface="Montserrat"/>
                  <a:sym typeface="Montserrat"/>
                </a:rPr>
                <a:t>4701 SW Admiral Way Unit#36</a:t>
              </a:r>
            </a:p>
            <a:p>
              <a:pPr algn="l" marL="0" indent="0" lvl="0">
                <a:lnSpc>
                  <a:spcPts val="3119"/>
                </a:lnSpc>
              </a:pPr>
              <a:r>
                <a:rPr lang="en-US" sz="2399">
                  <a:solidFill>
                    <a:srgbClr val="0C615D"/>
                  </a:solidFill>
                  <a:latin typeface="Montserrat"/>
                  <a:ea typeface="Montserrat"/>
                  <a:cs typeface="Montserrat"/>
                  <a:sym typeface="Montserrat"/>
                </a:rPr>
                <a:t>Sattle,WA 98116</a:t>
              </a:r>
            </a:p>
          </p:txBody>
        </p:sp>
      </p:grpSp>
      <p:grpSp>
        <p:nvGrpSpPr>
          <p:cNvPr name="Group 9" id="9"/>
          <p:cNvGrpSpPr/>
          <p:nvPr/>
        </p:nvGrpSpPr>
        <p:grpSpPr>
          <a:xfrm rot="0">
            <a:off x="9700082" y="6495327"/>
            <a:ext cx="7252448" cy="1074269"/>
            <a:chOff x="0" y="0"/>
            <a:chExt cx="9669930" cy="1432359"/>
          </a:xfrm>
        </p:grpSpPr>
        <p:sp>
          <p:nvSpPr>
            <p:cNvPr name="TextBox 10" id="10"/>
            <p:cNvSpPr txBox="true"/>
            <p:nvPr/>
          </p:nvSpPr>
          <p:spPr>
            <a:xfrm rot="0">
              <a:off x="0" y="-28575"/>
              <a:ext cx="9669930" cy="638118"/>
            </a:xfrm>
            <a:prstGeom prst="rect">
              <a:avLst/>
            </a:prstGeom>
          </p:spPr>
          <p:txBody>
            <a:bodyPr anchor="t" rtlCol="false" tIns="0" lIns="0" bIns="0" rIns="0">
              <a:spAutoFit/>
            </a:bodyPr>
            <a:lstStyle/>
            <a:p>
              <a:pPr algn="l" marL="0" indent="0" lvl="0">
                <a:lnSpc>
                  <a:spcPts val="3900"/>
                </a:lnSpc>
              </a:pPr>
              <a:r>
                <a:rPr lang="en-US" b="true" sz="3000">
                  <a:solidFill>
                    <a:srgbClr val="0C615D"/>
                  </a:solidFill>
                  <a:latin typeface="Montserrat Bold"/>
                  <a:ea typeface="Montserrat Bold"/>
                  <a:cs typeface="Montserrat Bold"/>
                  <a:sym typeface="Montserrat Bold"/>
                </a:rPr>
                <a:t>Website</a:t>
              </a:r>
            </a:p>
          </p:txBody>
        </p:sp>
        <p:sp>
          <p:nvSpPr>
            <p:cNvPr name="TextBox 11" id="11"/>
            <p:cNvSpPr txBox="true"/>
            <p:nvPr/>
          </p:nvSpPr>
          <p:spPr>
            <a:xfrm rot="0">
              <a:off x="0" y="933364"/>
              <a:ext cx="9669930" cy="498995"/>
            </a:xfrm>
            <a:prstGeom prst="rect">
              <a:avLst/>
            </a:prstGeom>
          </p:spPr>
          <p:txBody>
            <a:bodyPr anchor="t" rtlCol="false" tIns="0" lIns="0" bIns="0" rIns="0">
              <a:spAutoFit/>
            </a:bodyPr>
            <a:lstStyle/>
            <a:p>
              <a:pPr algn="l" marL="0" indent="0" lvl="0">
                <a:lnSpc>
                  <a:spcPts val="3119"/>
                </a:lnSpc>
              </a:pPr>
              <a:r>
                <a:rPr lang="en-US" sz="2399">
                  <a:solidFill>
                    <a:srgbClr val="0C615D"/>
                  </a:solidFill>
                  <a:latin typeface="Montserrat"/>
                  <a:ea typeface="Montserrat"/>
                  <a:cs typeface="Montserrat"/>
                  <a:sym typeface="Montserrat"/>
                </a:rPr>
                <a:t>www.pillardrugclub.com</a:t>
              </a:r>
            </a:p>
          </p:txBody>
        </p:sp>
      </p:grpSp>
      <p:sp>
        <p:nvSpPr>
          <p:cNvPr name="TextBox 12" id="12"/>
          <p:cNvSpPr txBox="true"/>
          <p:nvPr/>
        </p:nvSpPr>
        <p:spPr>
          <a:xfrm rot="0">
            <a:off x="9700082" y="3449258"/>
            <a:ext cx="1647437" cy="323155"/>
          </a:xfrm>
          <a:prstGeom prst="rect">
            <a:avLst/>
          </a:prstGeom>
        </p:spPr>
        <p:txBody>
          <a:bodyPr anchor="t" rtlCol="false" tIns="0" lIns="0" bIns="0" rIns="0">
            <a:spAutoFit/>
          </a:bodyPr>
          <a:lstStyle/>
          <a:p>
            <a:pPr algn="l">
              <a:lnSpc>
                <a:spcPts val="2659"/>
              </a:lnSpc>
            </a:pPr>
            <a:r>
              <a:rPr lang="en-US" sz="1899">
                <a:solidFill>
                  <a:srgbClr val="0C615D"/>
                </a:solidFill>
                <a:latin typeface="Montserrat"/>
                <a:ea typeface="Montserrat"/>
                <a:cs typeface="Montserrat"/>
                <a:sym typeface="Montserrat"/>
              </a:rPr>
              <a:t>423-839-3523</a:t>
            </a:r>
          </a:p>
        </p:txBody>
      </p:sp>
      <p:sp>
        <p:nvSpPr>
          <p:cNvPr name="TextBox 13" id="13"/>
          <p:cNvSpPr txBox="true"/>
          <p:nvPr/>
        </p:nvSpPr>
        <p:spPr>
          <a:xfrm rot="0">
            <a:off x="5193724" y="656975"/>
            <a:ext cx="3730080" cy="272222"/>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Bold"/>
                <a:ea typeface="Montserrat Bold"/>
                <a:cs typeface="Montserrat Bold"/>
                <a:sym typeface="Montserrat Bold"/>
              </a:rPr>
              <a:t>Feb.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6309351" y="7255736"/>
            <a:ext cx="7266963" cy="7200900"/>
          </a:xfrm>
          <a:custGeom>
            <a:avLst/>
            <a:gdLst/>
            <a:ahLst/>
            <a:cxnLst/>
            <a:rect r="r" b="b" t="t" l="l"/>
            <a:pathLst>
              <a:path h="7200900" w="7266963">
                <a:moveTo>
                  <a:pt x="0" y="0"/>
                </a:moveTo>
                <a:lnTo>
                  <a:pt x="7266963" y="0"/>
                </a:lnTo>
                <a:lnTo>
                  <a:pt x="7266963"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786859" y="-2653241"/>
            <a:ext cx="7266963" cy="7200900"/>
          </a:xfrm>
          <a:custGeom>
            <a:avLst/>
            <a:gdLst/>
            <a:ahLst/>
            <a:cxnLst/>
            <a:rect r="r" b="b" t="t" l="l"/>
            <a:pathLst>
              <a:path h="7200900" w="7266963">
                <a:moveTo>
                  <a:pt x="0" y="0"/>
                </a:moveTo>
                <a:lnTo>
                  <a:pt x="7266963" y="0"/>
                </a:lnTo>
                <a:lnTo>
                  <a:pt x="7266963"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rot="0">
            <a:off x="11850061" y="633531"/>
            <a:ext cx="6437939" cy="0"/>
          </a:xfrm>
          <a:prstGeom prst="line">
            <a:avLst/>
          </a:prstGeom>
          <a:ln cap="flat" w="28575">
            <a:solidFill>
              <a:srgbClr val="365B6D"/>
            </a:solidFill>
            <a:prstDash val="solid"/>
            <a:headEnd type="none" len="sm" w="sm"/>
            <a:tailEnd type="none" len="sm" w="sm"/>
          </a:ln>
        </p:spPr>
      </p:sp>
      <p:sp>
        <p:nvSpPr>
          <p:cNvPr name="Freeform 5" id="5"/>
          <p:cNvSpPr/>
          <p:nvPr/>
        </p:nvSpPr>
        <p:spPr>
          <a:xfrm flipH="false" flipV="false" rot="5400000">
            <a:off x="-1336298" y="5180918"/>
            <a:ext cx="7664249" cy="6814214"/>
          </a:xfrm>
          <a:custGeom>
            <a:avLst/>
            <a:gdLst/>
            <a:ahLst/>
            <a:cxnLst/>
            <a:rect r="r" b="b" t="t" l="l"/>
            <a:pathLst>
              <a:path h="6814214" w="7664249">
                <a:moveTo>
                  <a:pt x="0" y="0"/>
                </a:moveTo>
                <a:lnTo>
                  <a:pt x="7664249" y="0"/>
                </a:lnTo>
                <a:lnTo>
                  <a:pt x="7664249" y="6814214"/>
                </a:lnTo>
                <a:lnTo>
                  <a:pt x="0" y="68142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363490" y="1735931"/>
            <a:ext cx="3646271" cy="3679273"/>
            <a:chOff x="0" y="0"/>
            <a:chExt cx="940781" cy="949296"/>
          </a:xfrm>
        </p:grpSpPr>
        <p:sp>
          <p:nvSpPr>
            <p:cNvPr name="Freeform 7" id="7"/>
            <p:cNvSpPr/>
            <p:nvPr/>
          </p:nvSpPr>
          <p:spPr>
            <a:xfrm flipH="false" flipV="false" rot="0">
              <a:off x="0" y="0"/>
              <a:ext cx="940781" cy="949296"/>
            </a:xfrm>
            <a:custGeom>
              <a:avLst/>
              <a:gdLst/>
              <a:ahLst/>
              <a:cxnLst/>
              <a:rect r="r" b="b" t="t" l="l"/>
              <a:pathLst>
                <a:path h="949296" w="940781">
                  <a:moveTo>
                    <a:pt x="470391" y="0"/>
                  </a:moveTo>
                  <a:cubicBezTo>
                    <a:pt x="210601" y="0"/>
                    <a:pt x="0" y="212507"/>
                    <a:pt x="0" y="474648"/>
                  </a:cubicBezTo>
                  <a:cubicBezTo>
                    <a:pt x="0" y="736789"/>
                    <a:pt x="210601" y="949296"/>
                    <a:pt x="470391" y="949296"/>
                  </a:cubicBezTo>
                  <a:cubicBezTo>
                    <a:pt x="730180" y="949296"/>
                    <a:pt x="940781" y="736789"/>
                    <a:pt x="940781" y="474648"/>
                  </a:cubicBezTo>
                  <a:cubicBezTo>
                    <a:pt x="940781" y="212507"/>
                    <a:pt x="730180" y="0"/>
                    <a:pt x="470391" y="0"/>
                  </a:cubicBezTo>
                  <a:close/>
                </a:path>
              </a:pathLst>
            </a:custGeom>
            <a:blipFill>
              <a:blip r:embed="rId8"/>
              <a:stretch>
                <a:fillRect l="0" t="-11939" r="0" b="-11939"/>
              </a:stretch>
            </a:blipFill>
          </p:spPr>
        </p:sp>
      </p:grpSp>
      <p:sp>
        <p:nvSpPr>
          <p:cNvPr name="Freeform 8" id="8"/>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9"/>
            <a:stretch>
              <a:fillRect l="0" t="-220335" r="0" b="-28182"/>
            </a:stretch>
          </a:blipFill>
        </p:spPr>
      </p:sp>
      <p:grpSp>
        <p:nvGrpSpPr>
          <p:cNvPr name="Group 9" id="9"/>
          <p:cNvGrpSpPr/>
          <p:nvPr/>
        </p:nvGrpSpPr>
        <p:grpSpPr>
          <a:xfrm rot="0">
            <a:off x="1413670" y="5965546"/>
            <a:ext cx="3545910" cy="354591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0" r="0" b="0"/>
              </a:stretch>
            </a:blipFill>
          </p:spPr>
        </p:sp>
      </p:grpSp>
      <p:grpSp>
        <p:nvGrpSpPr>
          <p:cNvPr name="Group 11" id="11"/>
          <p:cNvGrpSpPr/>
          <p:nvPr/>
        </p:nvGrpSpPr>
        <p:grpSpPr>
          <a:xfrm rot="0">
            <a:off x="1197479" y="5749355"/>
            <a:ext cx="3978292" cy="397829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0" r="0" b="0"/>
              </a:stretch>
            </a:blipFill>
          </p:spPr>
        </p:sp>
      </p:grpSp>
      <p:sp>
        <p:nvSpPr>
          <p:cNvPr name="TextBox 13" id="13"/>
          <p:cNvSpPr txBox="true"/>
          <p:nvPr/>
        </p:nvSpPr>
        <p:spPr>
          <a:xfrm rot="0">
            <a:off x="6124852" y="4455120"/>
            <a:ext cx="11450419" cy="4803363"/>
          </a:xfrm>
          <a:prstGeom prst="rect">
            <a:avLst/>
          </a:prstGeom>
        </p:spPr>
        <p:txBody>
          <a:bodyPr anchor="t" rtlCol="false" tIns="0" lIns="0" bIns="0" rIns="0">
            <a:spAutoFit/>
          </a:bodyPr>
          <a:lstStyle/>
          <a:p>
            <a:pPr algn="l">
              <a:lnSpc>
                <a:spcPts val="3522"/>
              </a:lnSpc>
            </a:pPr>
            <a:r>
              <a:rPr lang="en-US" sz="2516" b="true">
                <a:solidFill>
                  <a:srgbClr val="0C615D"/>
                </a:solidFill>
                <a:latin typeface="Montserrat Bold"/>
                <a:ea typeface="Montserrat Bold"/>
                <a:cs typeface="Montserrat Bold"/>
                <a:sym typeface="Montserrat Bold"/>
              </a:rPr>
              <a:t>As a pharmacist for eight years, I saw how the industry’s inefficiencies forced employers to pay inflated prices for the same maintenance medications, driving up costs with no real benefit. Khelan Patel and I knew there had to be a better way—one that eliminated waste, reduced costs, and gave employers true control over their pharmacy spend. That’s why we founded Pillar Drug Club, introducing an annual supply model that streamlines fulfillment, cuts unnecessary claims, and creates cost predictability. We’re passionate about changing healthcare by making pharmacy simpler, more transparent, and finally designed to work for the people who pay for it.</a:t>
            </a:r>
          </a:p>
        </p:txBody>
      </p:sp>
      <p:sp>
        <p:nvSpPr>
          <p:cNvPr name="TextBox 14" id="14"/>
          <p:cNvSpPr txBox="true"/>
          <p:nvPr/>
        </p:nvSpPr>
        <p:spPr>
          <a:xfrm rot="0">
            <a:off x="6124852" y="2390739"/>
            <a:ext cx="8413366" cy="1397653"/>
          </a:xfrm>
          <a:prstGeom prst="rect">
            <a:avLst/>
          </a:prstGeom>
        </p:spPr>
        <p:txBody>
          <a:bodyPr anchor="t" rtlCol="false" tIns="0" lIns="0" bIns="0" rIns="0">
            <a:spAutoFit/>
          </a:bodyPr>
          <a:lstStyle/>
          <a:p>
            <a:pPr algn="l">
              <a:lnSpc>
                <a:spcPts val="10951"/>
              </a:lnSpc>
            </a:pPr>
            <a:r>
              <a:rPr lang="en-US" sz="9360" b="true">
                <a:solidFill>
                  <a:srgbClr val="0C615D"/>
                </a:solidFill>
                <a:latin typeface="Montserrat Bold"/>
                <a:ea typeface="Montserrat Bold"/>
                <a:cs typeface="Montserrat Bold"/>
                <a:sym typeface="Montserrat Bold"/>
              </a:rPr>
              <a:t>About </a:t>
            </a:r>
            <a:r>
              <a:rPr lang="en-US" sz="9360" b="true">
                <a:solidFill>
                  <a:srgbClr val="FFFFFF"/>
                </a:solidFill>
                <a:latin typeface="Montserrat Bold"/>
                <a:ea typeface="Montserrat Bold"/>
                <a:cs typeface="Montserrat Bold"/>
                <a:sym typeface="Montserrat Bold"/>
              </a:rPr>
              <a:t>Us</a:t>
            </a:r>
            <a:r>
              <a:rPr lang="en-US" sz="9360" b="true">
                <a:solidFill>
                  <a:srgbClr val="0C615D"/>
                </a:solidFill>
                <a:latin typeface="Montserrat Bold"/>
                <a:ea typeface="Montserrat Bold"/>
                <a:cs typeface="Montserrat Bold"/>
                <a:sym typeface="Montserrat Bold"/>
              </a:rPr>
              <a:t> </a:t>
            </a:r>
          </a:p>
        </p:txBody>
      </p:sp>
      <p:sp>
        <p:nvSpPr>
          <p:cNvPr name="TextBox 15" id="15"/>
          <p:cNvSpPr txBox="true"/>
          <p:nvPr/>
        </p:nvSpPr>
        <p:spPr>
          <a:xfrm rot="0">
            <a:off x="5810077" y="454538"/>
            <a:ext cx="3306558" cy="281747"/>
          </a:xfrm>
          <a:prstGeom prst="rect">
            <a:avLst/>
          </a:prstGeom>
        </p:spPr>
        <p:txBody>
          <a:bodyPr anchor="t" rtlCol="false" tIns="0" lIns="0" bIns="0" rIns="0">
            <a:spAutoFit/>
          </a:bodyPr>
          <a:lstStyle/>
          <a:p>
            <a:pPr algn="l">
              <a:lnSpc>
                <a:spcPts val="2318"/>
              </a:lnSpc>
            </a:pPr>
            <a:r>
              <a:rPr lang="en-US" sz="1656">
                <a:solidFill>
                  <a:srgbClr val="0C615D"/>
                </a:solidFill>
                <a:latin typeface="Montserrat Classic"/>
                <a:ea typeface="Montserrat Classic"/>
                <a:cs typeface="Montserrat Classic"/>
                <a:sym typeface="Montserrat Classic"/>
              </a:rPr>
              <a:t>Feb. 2025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5299931" y="7199236"/>
            <a:ext cx="10599861" cy="7706693"/>
          </a:xfrm>
          <a:custGeom>
            <a:avLst/>
            <a:gdLst/>
            <a:ahLst/>
            <a:cxnLst/>
            <a:rect r="r" b="b" t="t" l="l"/>
            <a:pathLst>
              <a:path h="7706693" w="10599861">
                <a:moveTo>
                  <a:pt x="0" y="0"/>
                </a:moveTo>
                <a:lnTo>
                  <a:pt x="10599862" y="0"/>
                </a:lnTo>
                <a:lnTo>
                  <a:pt x="10599862" y="7706692"/>
                </a:lnTo>
                <a:lnTo>
                  <a:pt x="0" y="7706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0" y="9700628"/>
            <a:ext cx="18395101" cy="0"/>
          </a:xfrm>
          <a:prstGeom prst="line">
            <a:avLst/>
          </a:prstGeom>
          <a:ln cap="flat" w="38100">
            <a:solidFill>
              <a:srgbClr val="365B6D"/>
            </a:solidFill>
            <a:prstDash val="solid"/>
            <a:headEnd type="none" len="sm" w="sm"/>
            <a:tailEnd type="none" len="sm" w="sm"/>
          </a:ln>
        </p:spPr>
      </p:sp>
      <p:sp>
        <p:nvSpPr>
          <p:cNvPr name="Freeform 4" id="4"/>
          <p:cNvSpPr/>
          <p:nvPr/>
        </p:nvSpPr>
        <p:spPr>
          <a:xfrm flipH="false" flipV="false" rot="5400000">
            <a:off x="14947131" y="-489621"/>
            <a:ext cx="6681737" cy="6378022"/>
          </a:xfrm>
          <a:custGeom>
            <a:avLst/>
            <a:gdLst/>
            <a:ahLst/>
            <a:cxnLst/>
            <a:rect r="r" b="b" t="t" l="l"/>
            <a:pathLst>
              <a:path h="6378022" w="6681737">
                <a:moveTo>
                  <a:pt x="0" y="0"/>
                </a:moveTo>
                <a:lnTo>
                  <a:pt x="6681738" y="0"/>
                </a:lnTo>
                <a:lnTo>
                  <a:pt x="6681738" y="6378022"/>
                </a:lnTo>
                <a:lnTo>
                  <a:pt x="0" y="63780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rot="0">
            <a:off x="11850061" y="633531"/>
            <a:ext cx="6437939" cy="0"/>
          </a:xfrm>
          <a:prstGeom prst="line">
            <a:avLst/>
          </a:prstGeom>
          <a:ln cap="flat" w="28575">
            <a:solidFill>
              <a:srgbClr val="365B6D"/>
            </a:solidFill>
            <a:prstDash val="solid"/>
            <a:headEnd type="none" len="sm" w="sm"/>
            <a:tailEnd type="none" len="sm" w="sm"/>
          </a:ln>
        </p:spPr>
      </p:sp>
      <p:sp>
        <p:nvSpPr>
          <p:cNvPr name="Freeform 6" id="6"/>
          <p:cNvSpPr/>
          <p:nvPr/>
        </p:nvSpPr>
        <p:spPr>
          <a:xfrm flipH="false" flipV="false" rot="0">
            <a:off x="9361364" y="614462"/>
            <a:ext cx="5085399" cy="4854244"/>
          </a:xfrm>
          <a:custGeom>
            <a:avLst/>
            <a:gdLst/>
            <a:ahLst/>
            <a:cxnLst/>
            <a:rect r="r" b="b" t="t" l="l"/>
            <a:pathLst>
              <a:path h="4854244" w="5085399">
                <a:moveTo>
                  <a:pt x="0" y="0"/>
                </a:moveTo>
                <a:lnTo>
                  <a:pt x="5085398" y="0"/>
                </a:lnTo>
                <a:lnTo>
                  <a:pt x="5085398" y="4854244"/>
                </a:lnTo>
                <a:lnTo>
                  <a:pt x="0" y="48542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391177" y="1370036"/>
            <a:ext cx="5868123" cy="7546927"/>
          </a:xfrm>
          <a:custGeom>
            <a:avLst/>
            <a:gdLst/>
            <a:ahLst/>
            <a:cxnLst/>
            <a:rect r="r" b="b" t="t" l="l"/>
            <a:pathLst>
              <a:path h="7546927" w="5868123">
                <a:moveTo>
                  <a:pt x="0" y="0"/>
                </a:moveTo>
                <a:lnTo>
                  <a:pt x="5868123" y="0"/>
                </a:lnTo>
                <a:lnTo>
                  <a:pt x="5868123" y="7546928"/>
                </a:lnTo>
                <a:lnTo>
                  <a:pt x="0" y="7546928"/>
                </a:lnTo>
                <a:lnTo>
                  <a:pt x="0" y="0"/>
                </a:lnTo>
                <a:close/>
              </a:path>
            </a:pathLst>
          </a:custGeom>
          <a:blipFill>
            <a:blip r:embed="rId8"/>
            <a:stretch>
              <a:fillRect l="-66418" t="0" r="-26253" b="0"/>
            </a:stretch>
          </a:blipFill>
        </p:spPr>
      </p:sp>
      <p:sp>
        <p:nvSpPr>
          <p:cNvPr name="Freeform 8" id="8"/>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9"/>
            <a:stretch>
              <a:fillRect l="0" t="-220335" r="0" b="-28182"/>
            </a:stretch>
          </a:blipFill>
        </p:spPr>
      </p:sp>
      <p:sp>
        <p:nvSpPr>
          <p:cNvPr name="TextBox 9" id="9"/>
          <p:cNvSpPr txBox="true"/>
          <p:nvPr/>
        </p:nvSpPr>
        <p:spPr>
          <a:xfrm rot="0">
            <a:off x="1371235" y="1511115"/>
            <a:ext cx="9568716" cy="2134777"/>
          </a:xfrm>
          <a:prstGeom prst="rect">
            <a:avLst/>
          </a:prstGeom>
        </p:spPr>
        <p:txBody>
          <a:bodyPr anchor="t" rtlCol="false" tIns="0" lIns="0" bIns="0" rIns="0">
            <a:spAutoFit/>
          </a:bodyPr>
          <a:lstStyle/>
          <a:p>
            <a:pPr algn="l">
              <a:lnSpc>
                <a:spcPts val="17470"/>
              </a:lnSpc>
            </a:pPr>
            <a:r>
              <a:rPr lang="en-US" sz="12478" b="true">
                <a:solidFill>
                  <a:srgbClr val="0C615D"/>
                </a:solidFill>
                <a:latin typeface="Montserrat Bold"/>
                <a:ea typeface="Montserrat Bold"/>
                <a:cs typeface="Montserrat Bold"/>
                <a:sym typeface="Montserrat Bold"/>
              </a:rPr>
              <a:t>Problem</a:t>
            </a:r>
          </a:p>
        </p:txBody>
      </p:sp>
      <p:sp>
        <p:nvSpPr>
          <p:cNvPr name="TextBox 10" id="10"/>
          <p:cNvSpPr txBox="true"/>
          <p:nvPr/>
        </p:nvSpPr>
        <p:spPr>
          <a:xfrm rot="0">
            <a:off x="1371235" y="3611440"/>
            <a:ext cx="8575315" cy="2909399"/>
          </a:xfrm>
          <a:prstGeom prst="rect">
            <a:avLst/>
          </a:prstGeom>
        </p:spPr>
        <p:txBody>
          <a:bodyPr anchor="t" rtlCol="false" tIns="0" lIns="0" bIns="0" rIns="0">
            <a:spAutoFit/>
          </a:bodyPr>
          <a:lstStyle/>
          <a:p>
            <a:pPr algn="l">
              <a:lnSpc>
                <a:spcPts val="2616"/>
              </a:lnSpc>
              <a:spcBef>
                <a:spcPct val="0"/>
              </a:spcBef>
            </a:pPr>
            <a:r>
              <a:rPr lang="en-US" b="true" sz="1868">
                <a:solidFill>
                  <a:srgbClr val="0C615D"/>
                </a:solidFill>
                <a:latin typeface="Montserrat Bold"/>
                <a:ea typeface="Montserrat Bold"/>
                <a:cs typeface="Montserrat Bold"/>
                <a:sym typeface="Montserrat Bold"/>
              </a:rPr>
              <a:t>For years, employers have navigated the ruins of a broken pharmacy system, where inefficiency is built into every prescription filled. Medications that should be simple to manage become a revolving door of claims, fees, and rising costs, with no real transparency or control. Employees struggle with inconsistent pricing and missed refills, while employers absorb the waste of a system designed to keep them spending. The result? Higher costs, lower adherence, and a process that serves the industry more than the people paying for it. It’s time for a smarter, more efficient way forward.</a:t>
            </a:r>
          </a:p>
        </p:txBody>
      </p:sp>
      <p:sp>
        <p:nvSpPr>
          <p:cNvPr name="TextBox 11" id="11"/>
          <p:cNvSpPr txBox="true"/>
          <p:nvPr/>
        </p:nvSpPr>
        <p:spPr>
          <a:xfrm rot="0">
            <a:off x="1371235" y="7180186"/>
            <a:ext cx="2541673" cy="2604031"/>
          </a:xfrm>
          <a:prstGeom prst="rect">
            <a:avLst/>
          </a:prstGeom>
        </p:spPr>
        <p:txBody>
          <a:bodyPr anchor="t" rtlCol="false" tIns="0" lIns="0" bIns="0" rIns="0">
            <a:spAutoFit/>
          </a:bodyPr>
          <a:lstStyle/>
          <a:p>
            <a:pPr algn="l">
              <a:lnSpc>
                <a:spcPts val="1885"/>
              </a:lnSpc>
            </a:pPr>
            <a:r>
              <a:rPr lang="en-US" sz="1346" b="true">
                <a:solidFill>
                  <a:srgbClr val="0C615D"/>
                </a:solidFill>
                <a:latin typeface="Montserrat Bold"/>
                <a:ea typeface="Montserrat Bold"/>
                <a:cs typeface="Montserrat Bold"/>
                <a:sym typeface="Montserrat Bold"/>
              </a:rPr>
              <a:t>A system where employers bear the burden of rising drug costs, trapped in a cycle of inefficiency that prioritizes profit over affordability and access.</a:t>
            </a:r>
          </a:p>
          <a:p>
            <a:pPr algn="l">
              <a:lnSpc>
                <a:spcPts val="1885"/>
              </a:lnSpc>
            </a:pPr>
          </a:p>
          <a:p>
            <a:pPr algn="l">
              <a:lnSpc>
                <a:spcPts val="1885"/>
              </a:lnSpc>
            </a:pPr>
          </a:p>
          <a:p>
            <a:pPr algn="l">
              <a:lnSpc>
                <a:spcPts val="1885"/>
              </a:lnSpc>
            </a:pPr>
          </a:p>
          <a:p>
            <a:pPr algn="l">
              <a:lnSpc>
                <a:spcPts val="1885"/>
              </a:lnSpc>
            </a:pPr>
          </a:p>
          <a:p>
            <a:pPr algn="l">
              <a:lnSpc>
                <a:spcPts val="1885"/>
              </a:lnSpc>
              <a:spcBef>
                <a:spcPct val="0"/>
              </a:spcBef>
            </a:pPr>
          </a:p>
        </p:txBody>
      </p:sp>
      <p:sp>
        <p:nvSpPr>
          <p:cNvPr name="TextBox 12" id="12"/>
          <p:cNvSpPr txBox="true"/>
          <p:nvPr/>
        </p:nvSpPr>
        <p:spPr>
          <a:xfrm rot="0">
            <a:off x="1371235" y="6682763"/>
            <a:ext cx="2038912" cy="349119"/>
          </a:xfrm>
          <a:prstGeom prst="rect">
            <a:avLst/>
          </a:prstGeom>
        </p:spPr>
        <p:txBody>
          <a:bodyPr anchor="t" rtlCol="false" tIns="0" lIns="0" bIns="0" rIns="0">
            <a:spAutoFit/>
          </a:bodyPr>
          <a:lstStyle/>
          <a:p>
            <a:pPr algn="l">
              <a:lnSpc>
                <a:spcPts val="2803"/>
              </a:lnSpc>
            </a:pPr>
            <a:r>
              <a:rPr lang="en-US" sz="2002" b="true">
                <a:solidFill>
                  <a:srgbClr val="0C615D"/>
                </a:solidFill>
                <a:latin typeface="Montserrat Classic Bold"/>
                <a:ea typeface="Montserrat Classic Bold"/>
                <a:cs typeface="Montserrat Classic Bold"/>
                <a:sym typeface="Montserrat Classic Bold"/>
              </a:rPr>
              <a:t>The Society</a:t>
            </a:r>
          </a:p>
        </p:txBody>
      </p:sp>
      <p:sp>
        <p:nvSpPr>
          <p:cNvPr name="TextBox 13" id="13"/>
          <p:cNvSpPr txBox="true"/>
          <p:nvPr/>
        </p:nvSpPr>
        <p:spPr>
          <a:xfrm rot="0">
            <a:off x="4104942" y="7180186"/>
            <a:ext cx="2842861" cy="1413491"/>
          </a:xfrm>
          <a:prstGeom prst="rect">
            <a:avLst/>
          </a:prstGeom>
        </p:spPr>
        <p:txBody>
          <a:bodyPr anchor="t" rtlCol="false" tIns="0" lIns="0" bIns="0" rIns="0">
            <a:spAutoFit/>
          </a:bodyPr>
          <a:lstStyle/>
          <a:p>
            <a:pPr algn="l">
              <a:lnSpc>
                <a:spcPts val="1885"/>
              </a:lnSpc>
              <a:spcBef>
                <a:spcPct val="0"/>
              </a:spcBef>
            </a:pPr>
            <a:r>
              <a:rPr lang="en-US" b="true" sz="1346">
                <a:solidFill>
                  <a:srgbClr val="0C615D"/>
                </a:solidFill>
                <a:latin typeface="Montserrat Bold"/>
                <a:ea typeface="Montserrat Bold"/>
                <a:cs typeface="Montserrat Bold"/>
                <a:sym typeface="Montserrat Bold"/>
              </a:rPr>
              <a:t>A healthcare landscape where cost volatility, administrative waste, and misaligned incentives make managing prescription benefits an uphill battle for employers.</a:t>
            </a:r>
          </a:p>
        </p:txBody>
      </p:sp>
      <p:sp>
        <p:nvSpPr>
          <p:cNvPr name="TextBox 14" id="14"/>
          <p:cNvSpPr txBox="true"/>
          <p:nvPr/>
        </p:nvSpPr>
        <p:spPr>
          <a:xfrm rot="0">
            <a:off x="4104942" y="6682763"/>
            <a:ext cx="2461861" cy="349119"/>
          </a:xfrm>
          <a:prstGeom prst="rect">
            <a:avLst/>
          </a:prstGeom>
        </p:spPr>
        <p:txBody>
          <a:bodyPr anchor="t" rtlCol="false" tIns="0" lIns="0" bIns="0" rIns="0">
            <a:spAutoFit/>
          </a:bodyPr>
          <a:lstStyle/>
          <a:p>
            <a:pPr algn="l">
              <a:lnSpc>
                <a:spcPts val="2803"/>
              </a:lnSpc>
            </a:pPr>
            <a:r>
              <a:rPr lang="en-US" sz="2002" b="true">
                <a:solidFill>
                  <a:srgbClr val="0C615D"/>
                </a:solidFill>
                <a:latin typeface="Montserrat Classic Bold"/>
                <a:ea typeface="Montserrat Classic Bold"/>
                <a:cs typeface="Montserrat Classic Bold"/>
                <a:sym typeface="Montserrat Classic Bold"/>
              </a:rPr>
              <a:t>The Environment</a:t>
            </a:r>
          </a:p>
        </p:txBody>
      </p:sp>
      <p:sp>
        <p:nvSpPr>
          <p:cNvPr name="TextBox 15" id="15"/>
          <p:cNvSpPr txBox="true"/>
          <p:nvPr/>
        </p:nvSpPr>
        <p:spPr>
          <a:xfrm rot="0">
            <a:off x="7139836" y="7180186"/>
            <a:ext cx="3488390" cy="1175382"/>
          </a:xfrm>
          <a:prstGeom prst="rect">
            <a:avLst/>
          </a:prstGeom>
        </p:spPr>
        <p:txBody>
          <a:bodyPr anchor="t" rtlCol="false" tIns="0" lIns="0" bIns="0" rIns="0">
            <a:spAutoFit/>
          </a:bodyPr>
          <a:lstStyle/>
          <a:p>
            <a:pPr algn="l">
              <a:lnSpc>
                <a:spcPts val="1885"/>
              </a:lnSpc>
              <a:spcBef>
                <a:spcPct val="0"/>
              </a:spcBef>
            </a:pPr>
            <a:r>
              <a:rPr lang="en-US" b="true" sz="1346">
                <a:solidFill>
                  <a:srgbClr val="0C615D"/>
                </a:solidFill>
                <a:latin typeface="Montserrat Bold"/>
                <a:ea typeface="Montserrat Bold"/>
                <a:cs typeface="Montserrat Bold"/>
                <a:sym typeface="Montserrat Bold"/>
              </a:rPr>
              <a:t>A growing demand for cost transparency and efficiency, as employers seek smarter solutions to rein in pharmacy spending without compromising employee health.</a:t>
            </a:r>
            <a:r>
              <a:rPr lang="en-US" b="true" sz="1346">
                <a:solidFill>
                  <a:srgbClr val="0C615D"/>
                </a:solidFill>
                <a:latin typeface="Montserrat Bold"/>
                <a:ea typeface="Montserrat Bold"/>
                <a:cs typeface="Montserrat Bold"/>
                <a:sym typeface="Montserrat Bold"/>
              </a:rPr>
              <a:t>.</a:t>
            </a:r>
          </a:p>
        </p:txBody>
      </p:sp>
      <p:sp>
        <p:nvSpPr>
          <p:cNvPr name="TextBox 16" id="16"/>
          <p:cNvSpPr txBox="true"/>
          <p:nvPr/>
        </p:nvSpPr>
        <p:spPr>
          <a:xfrm rot="0">
            <a:off x="7139836" y="6682763"/>
            <a:ext cx="2221528" cy="349119"/>
          </a:xfrm>
          <a:prstGeom prst="rect">
            <a:avLst/>
          </a:prstGeom>
        </p:spPr>
        <p:txBody>
          <a:bodyPr anchor="t" rtlCol="false" tIns="0" lIns="0" bIns="0" rIns="0">
            <a:spAutoFit/>
          </a:bodyPr>
          <a:lstStyle/>
          <a:p>
            <a:pPr algn="l">
              <a:lnSpc>
                <a:spcPts val="2803"/>
              </a:lnSpc>
            </a:pPr>
            <a:r>
              <a:rPr lang="en-US" sz="2002" b="true">
                <a:solidFill>
                  <a:srgbClr val="0C615D"/>
                </a:solidFill>
                <a:latin typeface="Montserrat Classic Bold"/>
                <a:ea typeface="Montserrat Classic Bold"/>
                <a:cs typeface="Montserrat Classic Bold"/>
                <a:sym typeface="Montserrat Classic Bold"/>
              </a:rPr>
              <a:t>The Climate</a:t>
            </a:r>
          </a:p>
        </p:txBody>
      </p:sp>
      <p:sp>
        <p:nvSpPr>
          <p:cNvPr name="TextBox 17" id="17"/>
          <p:cNvSpPr txBox="true"/>
          <p:nvPr/>
        </p:nvSpPr>
        <p:spPr>
          <a:xfrm rot="0">
            <a:off x="5810077" y="454538"/>
            <a:ext cx="2586480" cy="281747"/>
          </a:xfrm>
          <a:prstGeom prst="rect">
            <a:avLst/>
          </a:prstGeom>
        </p:spPr>
        <p:txBody>
          <a:bodyPr anchor="t" rtlCol="false" tIns="0" lIns="0" bIns="0" rIns="0">
            <a:spAutoFit/>
          </a:bodyPr>
          <a:lstStyle/>
          <a:p>
            <a:pPr algn="l">
              <a:lnSpc>
                <a:spcPts val="2318"/>
              </a:lnSpc>
            </a:pPr>
            <a:r>
              <a:rPr lang="en-US" sz="1656">
                <a:solidFill>
                  <a:srgbClr val="0C615D"/>
                </a:solidFill>
                <a:latin typeface="Montserrat Classic"/>
                <a:ea typeface="Montserrat Classic"/>
                <a:cs typeface="Montserrat Classic"/>
                <a:sym typeface="Montserrat Classic"/>
              </a:rPr>
              <a:t>Feb. 2025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1682537">
            <a:off x="9963291" y="-1983316"/>
            <a:ext cx="4236602" cy="4114800"/>
          </a:xfrm>
          <a:custGeom>
            <a:avLst/>
            <a:gdLst/>
            <a:ahLst/>
            <a:cxnLst/>
            <a:rect r="r" b="b" t="t" l="l"/>
            <a:pathLst>
              <a:path h="4114800" w="4236602">
                <a:moveTo>
                  <a:pt x="0" y="0"/>
                </a:moveTo>
                <a:lnTo>
                  <a:pt x="4236602" y="0"/>
                </a:lnTo>
                <a:lnTo>
                  <a:pt x="423660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08955">
            <a:off x="11201540" y="7402522"/>
            <a:ext cx="6681737" cy="6378022"/>
          </a:xfrm>
          <a:custGeom>
            <a:avLst/>
            <a:gdLst/>
            <a:ahLst/>
            <a:cxnLst/>
            <a:rect r="r" b="b" t="t" l="l"/>
            <a:pathLst>
              <a:path h="6378022" w="6681737">
                <a:moveTo>
                  <a:pt x="0" y="0"/>
                </a:moveTo>
                <a:lnTo>
                  <a:pt x="6681737" y="0"/>
                </a:lnTo>
                <a:lnTo>
                  <a:pt x="6681737" y="6378022"/>
                </a:lnTo>
                <a:lnTo>
                  <a:pt x="0" y="63780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rot="0">
            <a:off x="0" y="9700628"/>
            <a:ext cx="18395101" cy="0"/>
          </a:xfrm>
          <a:prstGeom prst="line">
            <a:avLst/>
          </a:prstGeom>
          <a:ln cap="flat" w="38100">
            <a:solidFill>
              <a:srgbClr val="365B6D"/>
            </a:solidFill>
            <a:prstDash val="solid"/>
            <a:headEnd type="none" len="sm" w="sm"/>
            <a:tailEnd type="none" len="sm" w="sm"/>
          </a:ln>
        </p:spPr>
      </p:sp>
      <p:sp>
        <p:nvSpPr>
          <p:cNvPr name="AutoShape 5" id="5"/>
          <p:cNvSpPr/>
          <p:nvPr/>
        </p:nvSpPr>
        <p:spPr>
          <a:xfrm rot="0">
            <a:off x="11850061" y="633531"/>
            <a:ext cx="6437939" cy="0"/>
          </a:xfrm>
          <a:prstGeom prst="line">
            <a:avLst/>
          </a:prstGeom>
          <a:ln cap="flat" w="28575">
            <a:solidFill>
              <a:srgbClr val="365B6D"/>
            </a:solidFill>
            <a:prstDash val="solid"/>
            <a:headEnd type="none" len="sm" w="sm"/>
            <a:tailEnd type="none" len="sm" w="sm"/>
          </a:ln>
        </p:spPr>
      </p:sp>
      <p:sp>
        <p:nvSpPr>
          <p:cNvPr name="Freeform 6" id="6"/>
          <p:cNvSpPr/>
          <p:nvPr/>
        </p:nvSpPr>
        <p:spPr>
          <a:xfrm flipH="false" flipV="false" rot="0">
            <a:off x="-3098285" y="6575855"/>
            <a:ext cx="5085399" cy="4854244"/>
          </a:xfrm>
          <a:custGeom>
            <a:avLst/>
            <a:gdLst/>
            <a:ahLst/>
            <a:cxnLst/>
            <a:rect r="r" b="b" t="t" l="l"/>
            <a:pathLst>
              <a:path h="4854244" w="5085399">
                <a:moveTo>
                  <a:pt x="0" y="0"/>
                </a:moveTo>
                <a:lnTo>
                  <a:pt x="5085398" y="0"/>
                </a:lnTo>
                <a:lnTo>
                  <a:pt x="5085398" y="4854244"/>
                </a:lnTo>
                <a:lnTo>
                  <a:pt x="0" y="48542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8"/>
            <a:stretch>
              <a:fillRect l="0" t="-220335" r="0" b="-28182"/>
            </a:stretch>
          </a:blipFill>
        </p:spPr>
      </p:sp>
      <p:sp>
        <p:nvSpPr>
          <p:cNvPr name="TextBox 8" id="8"/>
          <p:cNvSpPr txBox="true"/>
          <p:nvPr/>
        </p:nvSpPr>
        <p:spPr>
          <a:xfrm rot="0">
            <a:off x="1059509" y="1829143"/>
            <a:ext cx="16523831" cy="1384935"/>
          </a:xfrm>
          <a:prstGeom prst="rect">
            <a:avLst/>
          </a:prstGeom>
        </p:spPr>
        <p:txBody>
          <a:bodyPr anchor="t" rtlCol="false" tIns="0" lIns="0" bIns="0" rIns="0">
            <a:spAutoFit/>
          </a:bodyPr>
          <a:lstStyle/>
          <a:p>
            <a:pPr algn="l">
              <a:lnSpc>
                <a:spcPts val="11340"/>
              </a:lnSpc>
            </a:pPr>
            <a:r>
              <a:rPr lang="en-US" sz="8100" b="true">
                <a:solidFill>
                  <a:srgbClr val="0C615D"/>
                </a:solidFill>
                <a:latin typeface="Montserrat Bold"/>
                <a:ea typeface="Montserrat Bold"/>
                <a:cs typeface="Montserrat Bold"/>
                <a:sym typeface="Montserrat Bold"/>
              </a:rPr>
              <a:t>Average Drug Spend</a:t>
            </a:r>
          </a:p>
        </p:txBody>
      </p:sp>
      <p:sp>
        <p:nvSpPr>
          <p:cNvPr name="TextBox 9" id="9"/>
          <p:cNvSpPr txBox="true"/>
          <p:nvPr/>
        </p:nvSpPr>
        <p:spPr>
          <a:xfrm rot="0">
            <a:off x="1028700" y="3469831"/>
            <a:ext cx="12894592" cy="15811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C615D"/>
                </a:solidFill>
                <a:latin typeface="Montserrat"/>
                <a:ea typeface="Montserrat"/>
                <a:cs typeface="Montserrat"/>
                <a:sym typeface="Montserrat"/>
              </a:rPr>
              <a:t>Average Generic Spend for Self Insured Employers:</a:t>
            </a:r>
            <a:r>
              <a:rPr lang="en-US" b="true" sz="3000">
                <a:solidFill>
                  <a:srgbClr val="0C615D"/>
                </a:solidFill>
                <a:latin typeface="Montserrat Bold"/>
                <a:ea typeface="Montserrat Bold"/>
                <a:cs typeface="Montserrat Bold"/>
                <a:sym typeface="Montserrat Bold"/>
              </a:rPr>
              <a:t> $252/yr</a:t>
            </a:r>
          </a:p>
          <a:p>
            <a:pPr algn="l" marL="647700" indent="-323850" lvl="1">
              <a:lnSpc>
                <a:spcPts val="4200"/>
              </a:lnSpc>
              <a:buFont typeface="Arial"/>
              <a:buChar char="•"/>
            </a:pPr>
            <a:r>
              <a:rPr lang="en-US" sz="3000">
                <a:solidFill>
                  <a:srgbClr val="0C615D"/>
                </a:solidFill>
                <a:latin typeface="Montserrat"/>
                <a:ea typeface="Montserrat"/>
                <a:cs typeface="Montserrat"/>
                <a:sym typeface="Montserrat"/>
              </a:rPr>
              <a:t>Average Out of Pocket for Employees: </a:t>
            </a:r>
            <a:r>
              <a:rPr lang="en-US" b="true" sz="3000">
                <a:solidFill>
                  <a:srgbClr val="0C615D"/>
                </a:solidFill>
                <a:latin typeface="Montserrat Bold"/>
                <a:ea typeface="Montserrat Bold"/>
                <a:cs typeface="Montserrat Bold"/>
                <a:sym typeface="Montserrat Bold"/>
              </a:rPr>
              <a:t>$336/yr</a:t>
            </a:r>
          </a:p>
          <a:p>
            <a:pPr algn="l" marL="647700" indent="-323850" lvl="1">
              <a:lnSpc>
                <a:spcPts val="4200"/>
              </a:lnSpc>
              <a:buFont typeface="Arial"/>
              <a:buChar char="•"/>
            </a:pPr>
            <a:r>
              <a:rPr lang="en-US" b="true" sz="3000">
                <a:solidFill>
                  <a:srgbClr val="0C615D"/>
                </a:solidFill>
                <a:latin typeface="Montserrat Bold"/>
                <a:ea typeface="Montserrat Bold"/>
                <a:cs typeface="Montserrat Bold"/>
                <a:sym typeface="Montserrat Bold"/>
              </a:rPr>
              <a:t>Total Drug Spend: $588/yr</a:t>
            </a:r>
          </a:p>
        </p:txBody>
      </p:sp>
      <p:sp>
        <p:nvSpPr>
          <p:cNvPr name="TextBox 10" id="10"/>
          <p:cNvSpPr txBox="true"/>
          <p:nvPr/>
        </p:nvSpPr>
        <p:spPr>
          <a:xfrm rot="0">
            <a:off x="5810077" y="454538"/>
            <a:ext cx="2586480" cy="281747"/>
          </a:xfrm>
          <a:prstGeom prst="rect">
            <a:avLst/>
          </a:prstGeom>
        </p:spPr>
        <p:txBody>
          <a:bodyPr anchor="t" rtlCol="false" tIns="0" lIns="0" bIns="0" rIns="0">
            <a:spAutoFit/>
          </a:bodyPr>
          <a:lstStyle/>
          <a:p>
            <a:pPr algn="l">
              <a:lnSpc>
                <a:spcPts val="2318"/>
              </a:lnSpc>
            </a:pPr>
            <a:r>
              <a:rPr lang="en-US" sz="1656">
                <a:solidFill>
                  <a:srgbClr val="0C615D"/>
                </a:solidFill>
                <a:latin typeface="Montserrat Classic"/>
                <a:ea typeface="Montserrat Classic"/>
                <a:cs typeface="Montserrat Classic"/>
                <a:sym typeface="Montserrat Classic"/>
              </a:rPr>
              <a:t>Feb. 2025</a:t>
            </a:r>
          </a:p>
        </p:txBody>
      </p:sp>
      <p:sp>
        <p:nvSpPr>
          <p:cNvPr name="Freeform 11" id="11"/>
          <p:cNvSpPr/>
          <p:nvPr/>
        </p:nvSpPr>
        <p:spPr>
          <a:xfrm flipH="false" flipV="false" rot="2929569">
            <a:off x="16264305" y="1338915"/>
            <a:ext cx="5085399" cy="4854244"/>
          </a:xfrm>
          <a:custGeom>
            <a:avLst/>
            <a:gdLst/>
            <a:ahLst/>
            <a:cxnLst/>
            <a:rect r="r" b="b" t="t" l="l"/>
            <a:pathLst>
              <a:path h="4854244" w="5085399">
                <a:moveTo>
                  <a:pt x="0" y="0"/>
                </a:moveTo>
                <a:lnTo>
                  <a:pt x="5085399" y="0"/>
                </a:lnTo>
                <a:lnTo>
                  <a:pt x="5085399" y="4854244"/>
                </a:lnTo>
                <a:lnTo>
                  <a:pt x="0" y="48542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5490631">
            <a:off x="4681497" y="7200900"/>
            <a:ext cx="4236602" cy="4114800"/>
          </a:xfrm>
          <a:custGeom>
            <a:avLst/>
            <a:gdLst/>
            <a:ahLst/>
            <a:cxnLst/>
            <a:rect r="r" b="b" t="t" l="l"/>
            <a:pathLst>
              <a:path h="4114800" w="4236602">
                <a:moveTo>
                  <a:pt x="0" y="0"/>
                </a:moveTo>
                <a:lnTo>
                  <a:pt x="4236602" y="0"/>
                </a:lnTo>
                <a:lnTo>
                  <a:pt x="423660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028700" y="5287684"/>
            <a:ext cx="16523831" cy="1562100"/>
          </a:xfrm>
          <a:prstGeom prst="rect">
            <a:avLst/>
          </a:prstGeom>
        </p:spPr>
        <p:txBody>
          <a:bodyPr anchor="t" rtlCol="false" tIns="0" lIns="0" bIns="0" rIns="0">
            <a:spAutoFit/>
          </a:bodyPr>
          <a:lstStyle/>
          <a:p>
            <a:pPr algn="l">
              <a:lnSpc>
                <a:spcPts val="6299"/>
              </a:lnSpc>
            </a:pPr>
            <a:r>
              <a:rPr lang="en-US" b="true" sz="4500" i="true">
                <a:solidFill>
                  <a:srgbClr val="0C615D"/>
                </a:solidFill>
                <a:latin typeface="Montserrat Bold Italics"/>
                <a:ea typeface="Montserrat Bold Italics"/>
                <a:cs typeface="Montserrat Bold Italics"/>
                <a:sym typeface="Montserrat Bold Italics"/>
              </a:rPr>
              <a:t>Pillar Drug Club has the formula to drop these cost dramatically (over 50%!)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5568308">
            <a:off x="12394999" y="4191015"/>
            <a:ext cx="7062011" cy="6741011"/>
          </a:xfrm>
          <a:custGeom>
            <a:avLst/>
            <a:gdLst/>
            <a:ahLst/>
            <a:cxnLst/>
            <a:rect r="r" b="b" t="t" l="l"/>
            <a:pathLst>
              <a:path h="6741011" w="7062011">
                <a:moveTo>
                  <a:pt x="0" y="0"/>
                </a:moveTo>
                <a:lnTo>
                  <a:pt x="7062011" y="0"/>
                </a:lnTo>
                <a:lnTo>
                  <a:pt x="7062011" y="6741011"/>
                </a:lnTo>
                <a:lnTo>
                  <a:pt x="0" y="67410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3040" y="2619351"/>
            <a:ext cx="4411393" cy="3782769"/>
          </a:xfrm>
          <a:custGeom>
            <a:avLst/>
            <a:gdLst/>
            <a:ahLst/>
            <a:cxnLst/>
            <a:rect r="r" b="b" t="t" l="l"/>
            <a:pathLst>
              <a:path h="3782769" w="4411393">
                <a:moveTo>
                  <a:pt x="0" y="0"/>
                </a:moveTo>
                <a:lnTo>
                  <a:pt x="4411393" y="0"/>
                </a:lnTo>
                <a:lnTo>
                  <a:pt x="4411393" y="3782770"/>
                </a:lnTo>
                <a:lnTo>
                  <a:pt x="0" y="3782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3272377"/>
            <a:ext cx="6628038" cy="2767793"/>
          </a:xfrm>
          <a:custGeom>
            <a:avLst/>
            <a:gdLst/>
            <a:ahLst/>
            <a:cxnLst/>
            <a:rect r="r" b="b" t="t" l="l"/>
            <a:pathLst>
              <a:path h="2767793" w="6628038">
                <a:moveTo>
                  <a:pt x="0" y="0"/>
                </a:moveTo>
                <a:lnTo>
                  <a:pt x="6628038" y="0"/>
                </a:lnTo>
                <a:lnTo>
                  <a:pt x="6628038" y="2767794"/>
                </a:lnTo>
                <a:lnTo>
                  <a:pt x="0" y="2767794"/>
                </a:lnTo>
                <a:lnTo>
                  <a:pt x="0" y="0"/>
                </a:lnTo>
                <a:close/>
              </a:path>
            </a:pathLst>
          </a:custGeom>
          <a:blipFill>
            <a:blip r:embed="rId6"/>
            <a:stretch>
              <a:fillRect l="0" t="-13540" r="0" b="-46006"/>
            </a:stretch>
          </a:blipFill>
        </p:spPr>
      </p:sp>
      <p:sp>
        <p:nvSpPr>
          <p:cNvPr name="Freeform 5" id="5"/>
          <p:cNvSpPr/>
          <p:nvPr/>
        </p:nvSpPr>
        <p:spPr>
          <a:xfrm flipH="false" flipV="false" rot="0">
            <a:off x="-2262095" y="8856633"/>
            <a:ext cx="7315200" cy="3271889"/>
          </a:xfrm>
          <a:custGeom>
            <a:avLst/>
            <a:gdLst/>
            <a:ahLst/>
            <a:cxnLst/>
            <a:rect r="r" b="b" t="t" l="l"/>
            <a:pathLst>
              <a:path h="3271889" w="7315200">
                <a:moveTo>
                  <a:pt x="0" y="0"/>
                </a:moveTo>
                <a:lnTo>
                  <a:pt x="7315200" y="0"/>
                </a:lnTo>
                <a:lnTo>
                  <a:pt x="7315200" y="3271889"/>
                </a:lnTo>
                <a:lnTo>
                  <a:pt x="0" y="32718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6" id="6"/>
          <p:cNvSpPr/>
          <p:nvPr/>
        </p:nvSpPr>
        <p:spPr>
          <a:xfrm rot="0">
            <a:off x="0" y="9700628"/>
            <a:ext cx="18395101" cy="0"/>
          </a:xfrm>
          <a:prstGeom prst="line">
            <a:avLst/>
          </a:prstGeom>
          <a:ln cap="flat" w="38100">
            <a:solidFill>
              <a:srgbClr val="0C615D"/>
            </a:solidFill>
            <a:prstDash val="solid"/>
            <a:headEnd type="none" len="sm" w="sm"/>
            <a:tailEnd type="none" len="sm" w="sm"/>
          </a:ln>
        </p:spPr>
      </p:sp>
      <p:sp>
        <p:nvSpPr>
          <p:cNvPr name="Freeform 7" id="7"/>
          <p:cNvSpPr/>
          <p:nvPr/>
        </p:nvSpPr>
        <p:spPr>
          <a:xfrm flipH="false" flipV="false" rot="0">
            <a:off x="13991220" y="-1333164"/>
            <a:ext cx="7315200" cy="3271889"/>
          </a:xfrm>
          <a:custGeom>
            <a:avLst/>
            <a:gdLst/>
            <a:ahLst/>
            <a:cxnLst/>
            <a:rect r="r" b="b" t="t" l="l"/>
            <a:pathLst>
              <a:path h="3271889" w="7315200">
                <a:moveTo>
                  <a:pt x="0" y="0"/>
                </a:moveTo>
                <a:lnTo>
                  <a:pt x="7315200" y="0"/>
                </a:lnTo>
                <a:lnTo>
                  <a:pt x="7315200" y="3271889"/>
                </a:lnTo>
                <a:lnTo>
                  <a:pt x="0" y="32718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8" id="8"/>
          <p:cNvSpPr/>
          <p:nvPr/>
        </p:nvSpPr>
        <p:spPr>
          <a:xfrm rot="0">
            <a:off x="11850061" y="633531"/>
            <a:ext cx="6437939" cy="0"/>
          </a:xfrm>
          <a:prstGeom prst="line">
            <a:avLst/>
          </a:prstGeom>
          <a:ln cap="flat" w="28575">
            <a:solidFill>
              <a:srgbClr val="0C615D"/>
            </a:solidFill>
            <a:prstDash val="solid"/>
            <a:headEnd type="none" len="sm" w="sm"/>
            <a:tailEnd type="none" len="sm" w="sm"/>
          </a:ln>
        </p:spPr>
      </p:sp>
      <p:sp>
        <p:nvSpPr>
          <p:cNvPr name="AutoShape 9" id="9"/>
          <p:cNvSpPr/>
          <p:nvPr/>
        </p:nvSpPr>
        <p:spPr>
          <a:xfrm>
            <a:off x="9202206" y="4133678"/>
            <a:ext cx="1441094" cy="0"/>
          </a:xfrm>
          <a:prstGeom prst="line">
            <a:avLst/>
          </a:prstGeom>
          <a:ln cap="flat" w="28575">
            <a:solidFill>
              <a:srgbClr val="0C615D"/>
            </a:solidFill>
            <a:prstDash val="solid"/>
            <a:headEnd type="none" len="sm" w="sm"/>
            <a:tailEnd type="none" len="sm" w="sm"/>
          </a:ln>
        </p:spPr>
      </p:sp>
      <p:sp>
        <p:nvSpPr>
          <p:cNvPr name="AutoShape 10" id="10"/>
          <p:cNvSpPr/>
          <p:nvPr/>
        </p:nvSpPr>
        <p:spPr>
          <a:xfrm>
            <a:off x="13673065" y="4119390"/>
            <a:ext cx="937030" cy="0"/>
          </a:xfrm>
          <a:prstGeom prst="line">
            <a:avLst/>
          </a:prstGeom>
          <a:ln cap="flat" w="28575">
            <a:solidFill>
              <a:srgbClr val="0C615D"/>
            </a:solidFill>
            <a:prstDash val="solid"/>
            <a:headEnd type="none" len="sm" w="sm"/>
            <a:tailEnd type="none" len="sm" w="sm"/>
          </a:ln>
        </p:spPr>
      </p:sp>
      <p:sp>
        <p:nvSpPr>
          <p:cNvPr name="AutoShape 11" id="11"/>
          <p:cNvSpPr/>
          <p:nvPr/>
        </p:nvSpPr>
        <p:spPr>
          <a:xfrm>
            <a:off x="13673065" y="7725595"/>
            <a:ext cx="937030" cy="0"/>
          </a:xfrm>
          <a:prstGeom prst="line">
            <a:avLst/>
          </a:prstGeom>
          <a:ln cap="flat" w="28575">
            <a:solidFill>
              <a:srgbClr val="FFFFFF"/>
            </a:solidFill>
            <a:prstDash val="solid"/>
            <a:headEnd type="none" len="sm" w="sm"/>
            <a:tailEnd type="none" len="sm" w="sm"/>
          </a:ln>
        </p:spPr>
      </p:sp>
      <p:sp>
        <p:nvSpPr>
          <p:cNvPr name="AutoShape 12" id="12"/>
          <p:cNvSpPr/>
          <p:nvPr/>
        </p:nvSpPr>
        <p:spPr>
          <a:xfrm>
            <a:off x="9197551" y="7739882"/>
            <a:ext cx="1095275" cy="0"/>
          </a:xfrm>
          <a:prstGeom prst="line">
            <a:avLst/>
          </a:prstGeom>
          <a:ln cap="flat" w="28575">
            <a:solidFill>
              <a:srgbClr val="0C615D"/>
            </a:solidFill>
            <a:prstDash val="solid"/>
            <a:headEnd type="none" len="sm" w="sm"/>
            <a:tailEnd type="none" len="sm" w="sm"/>
          </a:ln>
        </p:spPr>
      </p:sp>
      <p:sp>
        <p:nvSpPr>
          <p:cNvPr name="TextBox 13" id="13"/>
          <p:cNvSpPr txBox="true"/>
          <p:nvPr/>
        </p:nvSpPr>
        <p:spPr>
          <a:xfrm rot="0">
            <a:off x="976078" y="1589589"/>
            <a:ext cx="7585653" cy="1567430"/>
          </a:xfrm>
          <a:prstGeom prst="rect">
            <a:avLst/>
          </a:prstGeom>
        </p:spPr>
        <p:txBody>
          <a:bodyPr anchor="t" rtlCol="false" tIns="0" lIns="0" bIns="0" rIns="0">
            <a:spAutoFit/>
          </a:bodyPr>
          <a:lstStyle/>
          <a:p>
            <a:pPr algn="l">
              <a:lnSpc>
                <a:spcPts val="12830"/>
              </a:lnSpc>
            </a:pPr>
            <a:r>
              <a:rPr lang="en-US" b="true" sz="9164">
                <a:solidFill>
                  <a:srgbClr val="0C615D"/>
                </a:solidFill>
                <a:latin typeface="Montserrat Bold"/>
                <a:ea typeface="Montserrat Bold"/>
                <a:cs typeface="Montserrat Bold"/>
                <a:sym typeface="Montserrat Bold"/>
              </a:rPr>
              <a:t>SOLUTIONS</a:t>
            </a:r>
          </a:p>
        </p:txBody>
      </p:sp>
      <p:sp>
        <p:nvSpPr>
          <p:cNvPr name="TextBox 14" id="14"/>
          <p:cNvSpPr txBox="true"/>
          <p:nvPr/>
        </p:nvSpPr>
        <p:spPr>
          <a:xfrm rot="0">
            <a:off x="1028700" y="6364021"/>
            <a:ext cx="7533032" cy="2656473"/>
          </a:xfrm>
          <a:prstGeom prst="rect">
            <a:avLst/>
          </a:prstGeom>
        </p:spPr>
        <p:txBody>
          <a:bodyPr anchor="t" rtlCol="false" tIns="0" lIns="0" bIns="0" rIns="0">
            <a:spAutoFit/>
          </a:bodyPr>
          <a:lstStyle/>
          <a:p>
            <a:pPr algn="l">
              <a:lnSpc>
                <a:spcPts val="2653"/>
              </a:lnSpc>
            </a:pPr>
            <a:r>
              <a:rPr lang="en-US" sz="1895" b="true">
                <a:solidFill>
                  <a:srgbClr val="0C615D"/>
                </a:solidFill>
                <a:latin typeface="Montserrat Bold"/>
                <a:ea typeface="Montserrat Bold"/>
                <a:cs typeface="Montserrat Bold"/>
                <a:sym typeface="Montserrat Bold"/>
              </a:rPr>
              <a:t>Pillar Drug Club replaces inefficiency with simplicity by offering an annual supply model that eliminates excess claims, reduces dispensing fees, and provides predictable costs for employers. By streamlining fulfillment and cutting administrative waste, we lower pharmacy spend while improving medication adherence. This is a smarter, more transparent way to manage prescription benefits—one that finally puts employers in control.</a:t>
            </a:r>
          </a:p>
        </p:txBody>
      </p:sp>
      <p:sp>
        <p:nvSpPr>
          <p:cNvPr name="TextBox 15" id="15"/>
          <p:cNvSpPr txBox="true"/>
          <p:nvPr/>
        </p:nvSpPr>
        <p:spPr>
          <a:xfrm rot="0">
            <a:off x="9197551" y="2205425"/>
            <a:ext cx="4194335" cy="539089"/>
          </a:xfrm>
          <a:prstGeom prst="rect">
            <a:avLst/>
          </a:prstGeom>
        </p:spPr>
        <p:txBody>
          <a:bodyPr anchor="t" rtlCol="false" tIns="0" lIns="0" bIns="0" rIns="0">
            <a:spAutoFit/>
          </a:bodyPr>
          <a:lstStyle/>
          <a:p>
            <a:pPr algn="l">
              <a:lnSpc>
                <a:spcPts val="4407"/>
              </a:lnSpc>
            </a:pPr>
            <a:r>
              <a:rPr lang="en-US" b="true" sz="3148">
                <a:solidFill>
                  <a:srgbClr val="0C615D"/>
                </a:solidFill>
                <a:latin typeface="Montserrat Bold"/>
                <a:ea typeface="Montserrat Bold"/>
                <a:cs typeface="Montserrat Bold"/>
                <a:sym typeface="Montserrat Bold"/>
              </a:rPr>
              <a:t>BI/ANNUAL MODEL</a:t>
            </a:r>
          </a:p>
        </p:txBody>
      </p:sp>
      <p:sp>
        <p:nvSpPr>
          <p:cNvPr name="TextBox 16" id="16"/>
          <p:cNvSpPr txBox="true"/>
          <p:nvPr/>
        </p:nvSpPr>
        <p:spPr>
          <a:xfrm rot="0">
            <a:off x="9197551" y="2902776"/>
            <a:ext cx="4194335" cy="1016589"/>
          </a:xfrm>
          <a:prstGeom prst="rect">
            <a:avLst/>
          </a:prstGeom>
        </p:spPr>
        <p:txBody>
          <a:bodyPr anchor="t" rtlCol="false" tIns="0" lIns="0" bIns="0" rIns="0">
            <a:spAutoFit/>
          </a:bodyPr>
          <a:lstStyle/>
          <a:p>
            <a:pPr algn="l">
              <a:lnSpc>
                <a:spcPts val="2756"/>
              </a:lnSpc>
            </a:pPr>
            <a:r>
              <a:rPr lang="en-US" sz="1969" b="true">
                <a:solidFill>
                  <a:srgbClr val="0C615D"/>
                </a:solidFill>
                <a:latin typeface="Montserrat Bold"/>
                <a:ea typeface="Montserrat Bold"/>
                <a:cs typeface="Montserrat Bold"/>
                <a:sym typeface="Montserrat Bold"/>
              </a:rPr>
              <a:t>Eliminates monthly claims and dispensing fees, reducing costs and administrative burden.</a:t>
            </a:r>
          </a:p>
        </p:txBody>
      </p:sp>
      <p:sp>
        <p:nvSpPr>
          <p:cNvPr name="TextBox 17" id="17"/>
          <p:cNvSpPr txBox="true"/>
          <p:nvPr/>
        </p:nvSpPr>
        <p:spPr>
          <a:xfrm rot="0">
            <a:off x="9202206" y="5501081"/>
            <a:ext cx="3361190" cy="539089"/>
          </a:xfrm>
          <a:prstGeom prst="rect">
            <a:avLst/>
          </a:prstGeom>
        </p:spPr>
        <p:txBody>
          <a:bodyPr anchor="t" rtlCol="false" tIns="0" lIns="0" bIns="0" rIns="0">
            <a:spAutoFit/>
          </a:bodyPr>
          <a:lstStyle/>
          <a:p>
            <a:pPr algn="l">
              <a:lnSpc>
                <a:spcPts val="4407"/>
              </a:lnSpc>
            </a:pPr>
            <a:r>
              <a:rPr lang="en-US" b="true" sz="3148">
                <a:solidFill>
                  <a:srgbClr val="0C615D"/>
                </a:solidFill>
                <a:latin typeface="Montserrat Bold"/>
                <a:ea typeface="Montserrat Bold"/>
                <a:cs typeface="Montserrat Bold"/>
                <a:sym typeface="Montserrat Bold"/>
              </a:rPr>
              <a:t>STREAMLINED </a:t>
            </a:r>
          </a:p>
        </p:txBody>
      </p:sp>
      <p:sp>
        <p:nvSpPr>
          <p:cNvPr name="TextBox 18" id="18"/>
          <p:cNvSpPr txBox="true"/>
          <p:nvPr/>
        </p:nvSpPr>
        <p:spPr>
          <a:xfrm rot="0">
            <a:off x="9197551" y="6202096"/>
            <a:ext cx="4189680" cy="1359425"/>
          </a:xfrm>
          <a:prstGeom prst="rect">
            <a:avLst/>
          </a:prstGeom>
        </p:spPr>
        <p:txBody>
          <a:bodyPr anchor="t" rtlCol="false" tIns="0" lIns="0" bIns="0" rIns="0">
            <a:spAutoFit/>
          </a:bodyPr>
          <a:lstStyle/>
          <a:p>
            <a:pPr algn="l">
              <a:lnSpc>
                <a:spcPts val="2756"/>
              </a:lnSpc>
            </a:pPr>
            <a:r>
              <a:rPr lang="en-US" sz="1969" b="true">
                <a:solidFill>
                  <a:srgbClr val="0C615D"/>
                </a:solidFill>
                <a:latin typeface="Montserrat Bold"/>
                <a:ea typeface="Montserrat Bold"/>
                <a:cs typeface="Montserrat Bold"/>
                <a:sym typeface="Montserrat Bold"/>
              </a:rPr>
              <a:t>Reduces waste and inefficiencies, ensuring employees receive medications without disruption.</a:t>
            </a:r>
          </a:p>
        </p:txBody>
      </p:sp>
      <p:sp>
        <p:nvSpPr>
          <p:cNvPr name="TextBox 19" id="19"/>
          <p:cNvSpPr txBox="true"/>
          <p:nvPr/>
        </p:nvSpPr>
        <p:spPr>
          <a:xfrm rot="0">
            <a:off x="13668410" y="2205425"/>
            <a:ext cx="5210072" cy="539089"/>
          </a:xfrm>
          <a:prstGeom prst="rect">
            <a:avLst/>
          </a:prstGeom>
        </p:spPr>
        <p:txBody>
          <a:bodyPr anchor="t" rtlCol="false" tIns="0" lIns="0" bIns="0" rIns="0">
            <a:spAutoFit/>
          </a:bodyPr>
          <a:lstStyle/>
          <a:p>
            <a:pPr algn="l">
              <a:lnSpc>
                <a:spcPts val="4407"/>
              </a:lnSpc>
            </a:pPr>
            <a:r>
              <a:rPr lang="en-US" b="true" sz="3148">
                <a:solidFill>
                  <a:srgbClr val="0C615D"/>
                </a:solidFill>
                <a:latin typeface="Montserrat Bold"/>
                <a:ea typeface="Montserrat Bold"/>
                <a:cs typeface="Montserrat Bold"/>
                <a:sym typeface="Montserrat Bold"/>
              </a:rPr>
              <a:t>PREDICTABILITY</a:t>
            </a:r>
          </a:p>
        </p:txBody>
      </p:sp>
      <p:sp>
        <p:nvSpPr>
          <p:cNvPr name="TextBox 20" id="20"/>
          <p:cNvSpPr txBox="true"/>
          <p:nvPr/>
        </p:nvSpPr>
        <p:spPr>
          <a:xfrm rot="0">
            <a:off x="13668410" y="2902776"/>
            <a:ext cx="3980411" cy="1016589"/>
          </a:xfrm>
          <a:prstGeom prst="rect">
            <a:avLst/>
          </a:prstGeom>
        </p:spPr>
        <p:txBody>
          <a:bodyPr anchor="t" rtlCol="false" tIns="0" lIns="0" bIns="0" rIns="0">
            <a:spAutoFit/>
          </a:bodyPr>
          <a:lstStyle/>
          <a:p>
            <a:pPr algn="l">
              <a:lnSpc>
                <a:spcPts val="2756"/>
              </a:lnSpc>
            </a:pPr>
            <a:r>
              <a:rPr lang="en-US" sz="1969" b="true">
                <a:solidFill>
                  <a:srgbClr val="0C615D"/>
                </a:solidFill>
                <a:latin typeface="Montserrat Bold"/>
                <a:ea typeface="Montserrat Bold"/>
                <a:cs typeface="Montserrat Bold"/>
                <a:sym typeface="Montserrat Bold"/>
              </a:rPr>
              <a:t>Provides upfront, transparent costs so employers can budget with confidence.</a:t>
            </a:r>
          </a:p>
        </p:txBody>
      </p:sp>
      <p:sp>
        <p:nvSpPr>
          <p:cNvPr name="TextBox 21" id="21"/>
          <p:cNvSpPr txBox="true"/>
          <p:nvPr/>
        </p:nvSpPr>
        <p:spPr>
          <a:xfrm rot="0">
            <a:off x="13673065" y="5501081"/>
            <a:ext cx="2436748" cy="539089"/>
          </a:xfrm>
          <a:prstGeom prst="rect">
            <a:avLst/>
          </a:prstGeom>
        </p:spPr>
        <p:txBody>
          <a:bodyPr anchor="t" rtlCol="false" tIns="0" lIns="0" bIns="0" rIns="0">
            <a:spAutoFit/>
          </a:bodyPr>
          <a:lstStyle/>
          <a:p>
            <a:pPr algn="l">
              <a:lnSpc>
                <a:spcPts val="4407"/>
              </a:lnSpc>
            </a:pPr>
            <a:r>
              <a:rPr lang="en-US" b="true" sz="3148">
                <a:solidFill>
                  <a:srgbClr val="FFFFFF"/>
                </a:solidFill>
                <a:latin typeface="Montserrat Bold"/>
                <a:ea typeface="Montserrat Bold"/>
                <a:cs typeface="Montserrat Bold"/>
                <a:sym typeface="Montserrat Bold"/>
              </a:rPr>
              <a:t>BETTER UX</a:t>
            </a:r>
          </a:p>
        </p:txBody>
      </p:sp>
      <p:sp>
        <p:nvSpPr>
          <p:cNvPr name="TextBox 22" id="22"/>
          <p:cNvSpPr txBox="true"/>
          <p:nvPr/>
        </p:nvSpPr>
        <p:spPr>
          <a:xfrm rot="0">
            <a:off x="13673065" y="6198432"/>
            <a:ext cx="4322313" cy="4444942"/>
          </a:xfrm>
          <a:prstGeom prst="rect">
            <a:avLst/>
          </a:prstGeom>
        </p:spPr>
        <p:txBody>
          <a:bodyPr anchor="t" rtlCol="false" tIns="0" lIns="0" bIns="0" rIns="0">
            <a:spAutoFit/>
          </a:bodyPr>
          <a:lstStyle/>
          <a:p>
            <a:pPr algn="l">
              <a:lnSpc>
                <a:spcPts val="2756"/>
              </a:lnSpc>
            </a:pPr>
            <a:r>
              <a:rPr lang="en-US" sz="1969" b="true">
                <a:solidFill>
                  <a:srgbClr val="FFFFFF"/>
                </a:solidFill>
                <a:latin typeface="Montserrat Bold"/>
                <a:ea typeface="Montserrat Bold"/>
                <a:cs typeface="Montserrat Bold"/>
                <a:sym typeface="Montserrat Bold"/>
              </a:rPr>
              <a:t>Fewer hassles, better access, and a seamless experience improve employee satisfaction and trust.</a:t>
            </a:r>
          </a:p>
          <a:p>
            <a:pPr algn="l">
              <a:lnSpc>
                <a:spcPts val="2756"/>
              </a:lnSpc>
            </a:pPr>
          </a:p>
          <a:p>
            <a:pPr algn="l">
              <a:lnSpc>
                <a:spcPts val="2756"/>
              </a:lnSpc>
            </a:pPr>
          </a:p>
          <a:p>
            <a:pPr algn="l">
              <a:lnSpc>
                <a:spcPts val="2756"/>
              </a:lnSpc>
            </a:pPr>
          </a:p>
          <a:p>
            <a:pPr algn="l">
              <a:lnSpc>
                <a:spcPts val="2756"/>
              </a:lnSpc>
            </a:pPr>
          </a:p>
          <a:p>
            <a:pPr algn="l">
              <a:lnSpc>
                <a:spcPts val="2756"/>
              </a:lnSpc>
            </a:pPr>
          </a:p>
          <a:p>
            <a:pPr algn="l">
              <a:lnSpc>
                <a:spcPts val="2756"/>
              </a:lnSpc>
            </a:pPr>
          </a:p>
          <a:p>
            <a:pPr algn="l">
              <a:lnSpc>
                <a:spcPts val="2756"/>
              </a:lnSpc>
            </a:pPr>
          </a:p>
          <a:p>
            <a:pPr algn="l">
              <a:lnSpc>
                <a:spcPts val="2756"/>
              </a:lnSpc>
            </a:pPr>
          </a:p>
          <a:p>
            <a:pPr algn="l">
              <a:lnSpc>
                <a:spcPts val="2756"/>
              </a:lnSpc>
            </a:pPr>
          </a:p>
        </p:txBody>
      </p:sp>
      <p:sp>
        <p:nvSpPr>
          <p:cNvPr name="TextBox 23" id="23"/>
          <p:cNvSpPr txBox="true"/>
          <p:nvPr/>
        </p:nvSpPr>
        <p:spPr>
          <a:xfrm rot="0">
            <a:off x="5810077" y="464063"/>
            <a:ext cx="3306558" cy="272222"/>
          </a:xfrm>
          <a:prstGeom prst="rect">
            <a:avLst/>
          </a:prstGeom>
        </p:spPr>
        <p:txBody>
          <a:bodyPr anchor="t" rtlCol="false" tIns="0" lIns="0" bIns="0" rIns="0">
            <a:spAutoFit/>
          </a:bodyPr>
          <a:lstStyle/>
          <a:p>
            <a:pPr algn="l">
              <a:lnSpc>
                <a:spcPts val="2318"/>
              </a:lnSpc>
            </a:pPr>
            <a:r>
              <a:rPr lang="en-US" sz="1656">
                <a:solidFill>
                  <a:srgbClr val="0C615D"/>
                </a:solidFill>
                <a:latin typeface="Montserrat"/>
                <a:ea typeface="Montserrat"/>
                <a:cs typeface="Montserrat"/>
                <a:sym typeface="Montserrat"/>
              </a:rPr>
              <a:t>Feb. 2025</a:t>
            </a:r>
          </a:p>
        </p:txBody>
      </p:sp>
      <p:sp>
        <p:nvSpPr>
          <p:cNvPr name="Freeform 24" id="24"/>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9"/>
            <a:stretch>
              <a:fillRect l="0" t="-220335" r="0" b="-28182"/>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0">
            <a:off x="11850061" y="1682761"/>
            <a:ext cx="5692209" cy="807137"/>
            <a:chOff x="0" y="0"/>
            <a:chExt cx="3208308" cy="454928"/>
          </a:xfrm>
        </p:grpSpPr>
        <p:sp>
          <p:nvSpPr>
            <p:cNvPr name="Freeform 3" id="3"/>
            <p:cNvSpPr/>
            <p:nvPr/>
          </p:nvSpPr>
          <p:spPr>
            <a:xfrm flipH="false" flipV="false" rot="0">
              <a:off x="0" y="0"/>
              <a:ext cx="3208307" cy="454928"/>
            </a:xfrm>
            <a:custGeom>
              <a:avLst/>
              <a:gdLst/>
              <a:ahLst/>
              <a:cxnLst/>
              <a:rect r="r" b="b" t="t" l="l"/>
              <a:pathLst>
                <a:path h="454928" w="3208307">
                  <a:moveTo>
                    <a:pt x="0" y="0"/>
                  </a:moveTo>
                  <a:lnTo>
                    <a:pt x="3208307" y="0"/>
                  </a:lnTo>
                  <a:lnTo>
                    <a:pt x="3208307" y="454928"/>
                  </a:lnTo>
                  <a:lnTo>
                    <a:pt x="0" y="454928"/>
                  </a:lnTo>
                  <a:close/>
                </a:path>
              </a:pathLst>
            </a:custGeom>
            <a:solidFill>
              <a:srgbClr val="41C1BA"/>
            </a:solidFill>
          </p:spPr>
        </p:sp>
      </p:grpSp>
      <p:sp>
        <p:nvSpPr>
          <p:cNvPr name="AutoShape 4" id="4"/>
          <p:cNvSpPr/>
          <p:nvPr/>
        </p:nvSpPr>
        <p:spPr>
          <a:xfrm rot="0">
            <a:off x="11850061" y="661348"/>
            <a:ext cx="6437939" cy="0"/>
          </a:xfrm>
          <a:prstGeom prst="line">
            <a:avLst/>
          </a:prstGeom>
          <a:ln cap="flat" w="28575">
            <a:solidFill>
              <a:srgbClr val="0C615D"/>
            </a:solidFill>
            <a:prstDash val="solid"/>
            <a:headEnd type="none" len="sm" w="sm"/>
            <a:tailEnd type="none" len="sm" w="sm"/>
          </a:ln>
        </p:spPr>
      </p:sp>
      <p:sp>
        <p:nvSpPr>
          <p:cNvPr name="AutoShape 5" id="5"/>
          <p:cNvSpPr/>
          <p:nvPr/>
        </p:nvSpPr>
        <p:spPr>
          <a:xfrm rot="0">
            <a:off x="0" y="9728445"/>
            <a:ext cx="18395101" cy="0"/>
          </a:xfrm>
          <a:prstGeom prst="line">
            <a:avLst/>
          </a:prstGeom>
          <a:ln cap="flat" w="38100">
            <a:solidFill>
              <a:srgbClr val="0C615D"/>
            </a:solidFill>
            <a:prstDash val="solid"/>
            <a:headEnd type="none" len="sm" w="sm"/>
            <a:tailEnd type="none" len="sm" w="sm"/>
          </a:ln>
        </p:spPr>
      </p:sp>
      <p:grpSp>
        <p:nvGrpSpPr>
          <p:cNvPr name="Group 6" id="6"/>
          <p:cNvGrpSpPr/>
          <p:nvPr/>
        </p:nvGrpSpPr>
        <p:grpSpPr>
          <a:xfrm rot="0">
            <a:off x="11850061" y="3691055"/>
            <a:ext cx="5692209" cy="807137"/>
            <a:chOff x="0" y="0"/>
            <a:chExt cx="3208308" cy="454928"/>
          </a:xfrm>
        </p:grpSpPr>
        <p:sp>
          <p:nvSpPr>
            <p:cNvPr name="Freeform 7" id="7"/>
            <p:cNvSpPr/>
            <p:nvPr/>
          </p:nvSpPr>
          <p:spPr>
            <a:xfrm flipH="false" flipV="false" rot="0">
              <a:off x="0" y="0"/>
              <a:ext cx="3208307" cy="454928"/>
            </a:xfrm>
            <a:custGeom>
              <a:avLst/>
              <a:gdLst/>
              <a:ahLst/>
              <a:cxnLst/>
              <a:rect r="r" b="b" t="t" l="l"/>
              <a:pathLst>
                <a:path h="454928" w="3208307">
                  <a:moveTo>
                    <a:pt x="0" y="0"/>
                  </a:moveTo>
                  <a:lnTo>
                    <a:pt x="3208307" y="0"/>
                  </a:lnTo>
                  <a:lnTo>
                    <a:pt x="3208307" y="454928"/>
                  </a:lnTo>
                  <a:lnTo>
                    <a:pt x="0" y="454928"/>
                  </a:lnTo>
                  <a:close/>
                </a:path>
              </a:pathLst>
            </a:custGeom>
            <a:solidFill>
              <a:srgbClr val="41C1BA"/>
            </a:solidFill>
          </p:spPr>
        </p:sp>
      </p:grpSp>
      <p:pic>
        <p:nvPicPr>
          <p:cNvPr name="Picture 8" id="8"/>
          <p:cNvPicPr>
            <a:picLocks noChangeAspect="true"/>
          </p:cNvPicPr>
          <p:nvPr/>
        </p:nvPicPr>
        <p:blipFill>
          <a:blip r:embed="rId2"/>
          <a:stretch>
            <a:fillRect/>
          </a:stretch>
        </p:blipFill>
        <p:spPr>
          <a:xfrm rot="0">
            <a:off x="10885896" y="4234661"/>
            <a:ext cx="7391468" cy="3824970"/>
          </a:xfrm>
          <a:prstGeom prst="rect">
            <a:avLst/>
          </a:prstGeom>
        </p:spPr>
      </p:pic>
      <p:sp>
        <p:nvSpPr>
          <p:cNvPr name="Freeform 9" id="9"/>
          <p:cNvSpPr/>
          <p:nvPr/>
        </p:nvSpPr>
        <p:spPr>
          <a:xfrm flipH="false" flipV="false" rot="0">
            <a:off x="6380423" y="-1700059"/>
            <a:ext cx="5163086" cy="4928401"/>
          </a:xfrm>
          <a:custGeom>
            <a:avLst/>
            <a:gdLst/>
            <a:ahLst/>
            <a:cxnLst/>
            <a:rect r="r" b="b" t="t" l="l"/>
            <a:pathLst>
              <a:path h="4928401" w="5163086">
                <a:moveTo>
                  <a:pt x="0" y="0"/>
                </a:moveTo>
                <a:lnTo>
                  <a:pt x="5163086" y="0"/>
                </a:lnTo>
                <a:lnTo>
                  <a:pt x="5163086" y="4928400"/>
                </a:lnTo>
                <a:lnTo>
                  <a:pt x="0" y="4928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424537" y="2803319"/>
            <a:ext cx="8522704" cy="6683232"/>
          </a:xfrm>
          <a:prstGeom prst="rect">
            <a:avLst/>
          </a:prstGeom>
        </p:spPr>
        <p:txBody>
          <a:bodyPr anchor="t" rtlCol="false" tIns="0" lIns="0" bIns="0" rIns="0">
            <a:spAutoFit/>
          </a:bodyPr>
          <a:lstStyle/>
          <a:p>
            <a:pPr algn="l" marL="433018" indent="-216509" lvl="1">
              <a:lnSpc>
                <a:spcPts val="2807"/>
              </a:lnSpc>
              <a:buFont typeface="Arial"/>
              <a:buChar char="•"/>
            </a:pPr>
            <a:r>
              <a:rPr lang="en-US" b="true" sz="2005">
                <a:solidFill>
                  <a:srgbClr val="0C615D"/>
                </a:solidFill>
                <a:latin typeface="Montserrat Bold"/>
                <a:ea typeface="Montserrat Bold"/>
                <a:cs typeface="Montserrat Bold"/>
                <a:sym typeface="Montserrat Bold"/>
              </a:rPr>
              <a:t>Wholesale Pricing: Members get biannual and annual medication supplies at wholesale acquisition cost with no markups.</a:t>
            </a:r>
          </a:p>
          <a:p>
            <a:pPr algn="l">
              <a:lnSpc>
                <a:spcPts val="2807"/>
              </a:lnSpc>
            </a:pPr>
          </a:p>
          <a:p>
            <a:pPr algn="l" marL="433018" indent="-216509" lvl="1">
              <a:lnSpc>
                <a:spcPts val="2807"/>
              </a:lnSpc>
              <a:buFont typeface="Arial"/>
              <a:buChar char="•"/>
            </a:pPr>
            <a:r>
              <a:rPr lang="en-US" b="true" sz="2005">
                <a:solidFill>
                  <a:srgbClr val="0C615D"/>
                </a:solidFill>
                <a:latin typeface="Montserrat Bold"/>
                <a:ea typeface="Montserrat Bold"/>
                <a:cs typeface="Montserrat Bold"/>
                <a:sym typeface="Montserrat Bold"/>
              </a:rPr>
              <a:t>Subscripti</a:t>
            </a:r>
            <a:r>
              <a:rPr lang="en-US" b="true" sz="2005">
                <a:solidFill>
                  <a:srgbClr val="0C615D"/>
                </a:solidFill>
                <a:latin typeface="Montserrat Bold"/>
                <a:ea typeface="Montserrat Bold"/>
                <a:cs typeface="Montserrat Bold"/>
                <a:sym typeface="Montserrat Bold"/>
              </a:rPr>
              <a:t>on-Based: An annual fee covers access, reducing drug costs and improving adherence.</a:t>
            </a:r>
          </a:p>
          <a:p>
            <a:pPr algn="l">
              <a:lnSpc>
                <a:spcPts val="2807"/>
              </a:lnSpc>
            </a:pPr>
          </a:p>
          <a:p>
            <a:pPr algn="l" marL="433018" indent="-216509" lvl="1">
              <a:lnSpc>
                <a:spcPts val="2807"/>
              </a:lnSpc>
              <a:buFont typeface="Arial"/>
              <a:buChar char="•"/>
            </a:pPr>
            <a:r>
              <a:rPr lang="en-US" b="true" sz="2005">
                <a:solidFill>
                  <a:srgbClr val="0C615D"/>
                </a:solidFill>
                <a:latin typeface="Montserrat Bold"/>
                <a:ea typeface="Montserrat Bold"/>
                <a:cs typeface="Montserrat Bold"/>
                <a:sym typeface="Montserrat Bold"/>
              </a:rPr>
              <a:t>Seamless Integration: Works with PBMs without disrupting existing benefits.</a:t>
            </a:r>
          </a:p>
          <a:p>
            <a:pPr algn="l">
              <a:lnSpc>
                <a:spcPts val="2807"/>
              </a:lnSpc>
            </a:pPr>
          </a:p>
          <a:p>
            <a:pPr algn="l" marL="433018" indent="-216509" lvl="1">
              <a:lnSpc>
                <a:spcPts val="2807"/>
              </a:lnSpc>
              <a:buFont typeface="Arial"/>
              <a:buChar char="•"/>
            </a:pPr>
            <a:r>
              <a:rPr lang="en-US" b="true" sz="2005">
                <a:solidFill>
                  <a:srgbClr val="0C615D"/>
                </a:solidFill>
                <a:latin typeface="Montserrat Bold"/>
                <a:ea typeface="Montserrat Bold"/>
                <a:cs typeface="Montserrat Bold"/>
                <a:sym typeface="Montserrat Bold"/>
              </a:rPr>
              <a:t>Lower Costs: Bulk purchasing helps employers reduce total pharmacy spend.</a:t>
            </a:r>
          </a:p>
          <a:p>
            <a:pPr algn="l">
              <a:lnSpc>
                <a:spcPts val="2807"/>
              </a:lnSpc>
            </a:pPr>
          </a:p>
          <a:p>
            <a:pPr algn="l" marL="433018" indent="-216509" lvl="1">
              <a:lnSpc>
                <a:spcPts val="2807"/>
              </a:lnSpc>
              <a:buFont typeface="Arial"/>
              <a:buChar char="•"/>
            </a:pPr>
            <a:r>
              <a:rPr lang="en-US" b="true" sz="2005">
                <a:solidFill>
                  <a:srgbClr val="0C615D"/>
                </a:solidFill>
                <a:latin typeface="Montserrat Bold"/>
                <a:ea typeface="Montserrat Bold"/>
                <a:cs typeface="Montserrat Bold"/>
                <a:sym typeface="Montserrat Bold"/>
              </a:rPr>
              <a:t>Better Outcomes: Simplifies access, boosts adherence, and improves health.</a:t>
            </a:r>
          </a:p>
          <a:p>
            <a:pPr algn="l">
              <a:lnSpc>
                <a:spcPts val="2807"/>
              </a:lnSpc>
            </a:pPr>
          </a:p>
          <a:p>
            <a:pPr algn="l">
              <a:lnSpc>
                <a:spcPts val="2807"/>
              </a:lnSpc>
              <a:spcBef>
                <a:spcPct val="0"/>
              </a:spcBef>
            </a:pPr>
          </a:p>
          <a:p>
            <a:pPr algn="l">
              <a:lnSpc>
                <a:spcPts val="2807"/>
              </a:lnSpc>
              <a:spcBef>
                <a:spcPct val="0"/>
              </a:spcBef>
            </a:pPr>
          </a:p>
          <a:p>
            <a:pPr algn="l">
              <a:lnSpc>
                <a:spcPts val="2807"/>
              </a:lnSpc>
              <a:spcBef>
                <a:spcPct val="0"/>
              </a:spcBef>
            </a:pPr>
          </a:p>
        </p:txBody>
      </p:sp>
      <p:sp>
        <p:nvSpPr>
          <p:cNvPr name="Freeform 11" id="11"/>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5"/>
            <a:stretch>
              <a:fillRect l="0" t="-220335" r="0" b="-28182"/>
            </a:stretch>
          </a:blipFill>
        </p:spPr>
      </p:sp>
      <p:sp>
        <p:nvSpPr>
          <p:cNvPr name="Freeform 12" id="12"/>
          <p:cNvSpPr/>
          <p:nvPr/>
        </p:nvSpPr>
        <p:spPr>
          <a:xfrm flipH="false" flipV="false" rot="5780224">
            <a:off x="4681559" y="9066187"/>
            <a:ext cx="7062011" cy="6741011"/>
          </a:xfrm>
          <a:custGeom>
            <a:avLst/>
            <a:gdLst/>
            <a:ahLst/>
            <a:cxnLst/>
            <a:rect r="r" b="b" t="t" l="l"/>
            <a:pathLst>
              <a:path h="6741011" w="7062011">
                <a:moveTo>
                  <a:pt x="0" y="0"/>
                </a:moveTo>
                <a:lnTo>
                  <a:pt x="7062011" y="0"/>
                </a:lnTo>
                <a:lnTo>
                  <a:pt x="7062011" y="6741011"/>
                </a:lnTo>
                <a:lnTo>
                  <a:pt x="0" y="67410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0105341">
            <a:off x="-6242076" y="2518360"/>
            <a:ext cx="7062011" cy="6741011"/>
          </a:xfrm>
          <a:custGeom>
            <a:avLst/>
            <a:gdLst/>
            <a:ahLst/>
            <a:cxnLst/>
            <a:rect r="r" b="b" t="t" l="l"/>
            <a:pathLst>
              <a:path h="6741011" w="7062011">
                <a:moveTo>
                  <a:pt x="0" y="0"/>
                </a:moveTo>
                <a:lnTo>
                  <a:pt x="7062011" y="0"/>
                </a:lnTo>
                <a:lnTo>
                  <a:pt x="7062011" y="6741011"/>
                </a:lnTo>
                <a:lnTo>
                  <a:pt x="0" y="67410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5671122" y="-1349215"/>
            <a:ext cx="3176356" cy="3031976"/>
          </a:xfrm>
          <a:custGeom>
            <a:avLst/>
            <a:gdLst/>
            <a:ahLst/>
            <a:cxnLst/>
            <a:rect r="r" b="b" t="t" l="l"/>
            <a:pathLst>
              <a:path h="3031976" w="3176356">
                <a:moveTo>
                  <a:pt x="0" y="0"/>
                </a:moveTo>
                <a:lnTo>
                  <a:pt x="3176356" y="0"/>
                </a:lnTo>
                <a:lnTo>
                  <a:pt x="3176356" y="3031976"/>
                </a:lnTo>
                <a:lnTo>
                  <a:pt x="0" y="30319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371235" y="1336018"/>
            <a:ext cx="9830946" cy="1260551"/>
          </a:xfrm>
          <a:prstGeom prst="rect">
            <a:avLst/>
          </a:prstGeom>
        </p:spPr>
        <p:txBody>
          <a:bodyPr anchor="t" rtlCol="false" tIns="0" lIns="0" bIns="0" rIns="0">
            <a:spAutoFit/>
          </a:bodyPr>
          <a:lstStyle/>
          <a:p>
            <a:pPr algn="l">
              <a:lnSpc>
                <a:spcPts val="10318"/>
              </a:lnSpc>
            </a:pPr>
            <a:r>
              <a:rPr lang="en-US" sz="7370" b="true">
                <a:solidFill>
                  <a:srgbClr val="0C615D"/>
                </a:solidFill>
                <a:latin typeface="Montserrat Bold"/>
                <a:ea typeface="Montserrat Bold"/>
                <a:cs typeface="Montserrat Bold"/>
                <a:sym typeface="Montserrat Bold"/>
              </a:rPr>
              <a:t>Partnership </a:t>
            </a:r>
            <a:r>
              <a:rPr lang="en-US" sz="7370" b="true">
                <a:solidFill>
                  <a:srgbClr val="FFFFFF"/>
                </a:solidFill>
                <a:latin typeface="Montserrat Bold"/>
                <a:ea typeface="Montserrat Bold"/>
                <a:cs typeface="Montserrat Bold"/>
                <a:sym typeface="Montserrat Bold"/>
              </a:rPr>
              <a:t>Model</a:t>
            </a:r>
          </a:p>
        </p:txBody>
      </p:sp>
      <p:sp>
        <p:nvSpPr>
          <p:cNvPr name="TextBox 16" id="16"/>
          <p:cNvSpPr txBox="true"/>
          <p:nvPr/>
        </p:nvSpPr>
        <p:spPr>
          <a:xfrm rot="0">
            <a:off x="11940899" y="1821131"/>
            <a:ext cx="5510534" cy="473144"/>
          </a:xfrm>
          <a:prstGeom prst="rect">
            <a:avLst/>
          </a:prstGeom>
        </p:spPr>
        <p:txBody>
          <a:bodyPr anchor="t" rtlCol="false" tIns="0" lIns="0" bIns="0" rIns="0">
            <a:spAutoFit/>
          </a:bodyPr>
          <a:lstStyle/>
          <a:p>
            <a:pPr algn="ctr">
              <a:lnSpc>
                <a:spcPts val="3844"/>
              </a:lnSpc>
            </a:pPr>
            <a:r>
              <a:rPr lang="en-US" b="true" sz="2745">
                <a:solidFill>
                  <a:srgbClr val="FFFFFF"/>
                </a:solidFill>
                <a:latin typeface="Montserrat Classic Bold"/>
                <a:ea typeface="Montserrat Classic Bold"/>
                <a:cs typeface="Montserrat Classic Bold"/>
                <a:sym typeface="Montserrat Classic Bold"/>
              </a:rPr>
              <a:t>Wholesale cost/year (generics)</a:t>
            </a:r>
          </a:p>
        </p:txBody>
      </p:sp>
      <p:sp>
        <p:nvSpPr>
          <p:cNvPr name="TextBox 17" id="17"/>
          <p:cNvSpPr txBox="true"/>
          <p:nvPr/>
        </p:nvSpPr>
        <p:spPr>
          <a:xfrm rot="0">
            <a:off x="5810077" y="482355"/>
            <a:ext cx="3306558" cy="281747"/>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Classic Bold"/>
                <a:ea typeface="Montserrat Classic Bold"/>
                <a:cs typeface="Montserrat Classic Bold"/>
                <a:sym typeface="Montserrat Classic Bold"/>
              </a:rPr>
              <a:t>Feb. 2025</a:t>
            </a:r>
          </a:p>
        </p:txBody>
      </p:sp>
      <p:sp>
        <p:nvSpPr>
          <p:cNvPr name="TextBox 18" id="18"/>
          <p:cNvSpPr txBox="true"/>
          <p:nvPr/>
        </p:nvSpPr>
        <p:spPr>
          <a:xfrm rot="0">
            <a:off x="11969200" y="3829477"/>
            <a:ext cx="5487895" cy="473144"/>
          </a:xfrm>
          <a:prstGeom prst="rect">
            <a:avLst/>
          </a:prstGeom>
        </p:spPr>
        <p:txBody>
          <a:bodyPr anchor="t" rtlCol="false" tIns="0" lIns="0" bIns="0" rIns="0">
            <a:spAutoFit/>
          </a:bodyPr>
          <a:lstStyle/>
          <a:p>
            <a:pPr algn="ctr">
              <a:lnSpc>
                <a:spcPts val="3844"/>
              </a:lnSpc>
            </a:pPr>
            <a:r>
              <a:rPr lang="en-US" b="true" sz="2745">
                <a:solidFill>
                  <a:srgbClr val="FFFFFF"/>
                </a:solidFill>
                <a:latin typeface="Montserrat Classic Bold"/>
                <a:ea typeface="Montserrat Classic Bold"/>
                <a:cs typeface="Montserrat Classic Bold"/>
                <a:sym typeface="Montserrat Classic Bold"/>
              </a:rPr>
              <a:t>Annual OOP of +4 RXs/ patient</a:t>
            </a:r>
          </a:p>
        </p:txBody>
      </p:sp>
      <p:sp>
        <p:nvSpPr>
          <p:cNvPr name="TextBox 19" id="19"/>
          <p:cNvSpPr txBox="true"/>
          <p:nvPr/>
        </p:nvSpPr>
        <p:spPr>
          <a:xfrm rot="0">
            <a:off x="11952219" y="2604198"/>
            <a:ext cx="5290100" cy="778508"/>
          </a:xfrm>
          <a:prstGeom prst="rect">
            <a:avLst/>
          </a:prstGeom>
        </p:spPr>
        <p:txBody>
          <a:bodyPr anchor="t" rtlCol="false" tIns="0" lIns="0" bIns="0" rIns="0">
            <a:spAutoFit/>
          </a:bodyPr>
          <a:lstStyle/>
          <a:p>
            <a:pPr algn="ctr">
              <a:lnSpc>
                <a:spcPts val="6439"/>
              </a:lnSpc>
            </a:pPr>
            <a:r>
              <a:rPr lang="en-US" sz="4599" b="true">
                <a:solidFill>
                  <a:srgbClr val="0C615D"/>
                </a:solidFill>
                <a:latin typeface="Montserrat Bold"/>
                <a:ea typeface="Montserrat Bold"/>
                <a:cs typeface="Montserrat Bold"/>
                <a:sym typeface="Montserrat Bold"/>
              </a:rPr>
              <a:t>$29.00/drug/year</a:t>
            </a:r>
          </a:p>
        </p:txBody>
      </p:sp>
      <p:sp>
        <p:nvSpPr>
          <p:cNvPr name="TextBox 20" id="20"/>
          <p:cNvSpPr txBox="true"/>
          <p:nvPr/>
        </p:nvSpPr>
        <p:spPr>
          <a:xfrm rot="0">
            <a:off x="11104332" y="7729426"/>
            <a:ext cx="7183668" cy="1780540"/>
          </a:xfrm>
          <a:prstGeom prst="rect">
            <a:avLst/>
          </a:prstGeom>
        </p:spPr>
        <p:txBody>
          <a:bodyPr anchor="t" rtlCol="false" tIns="0" lIns="0" bIns="0" rIns="0">
            <a:spAutoFit/>
          </a:bodyPr>
          <a:lstStyle/>
          <a:p>
            <a:pPr algn="ctr">
              <a:lnSpc>
                <a:spcPts val="4759"/>
              </a:lnSpc>
            </a:pPr>
            <a:r>
              <a:rPr lang="en-US" sz="3399" b="true">
                <a:solidFill>
                  <a:srgbClr val="0C615D"/>
                </a:solidFill>
                <a:latin typeface="Montserrat Bold"/>
                <a:ea typeface="Montserrat Bold"/>
                <a:cs typeface="Montserrat Bold"/>
                <a:sym typeface="Montserrat Bold"/>
              </a:rPr>
              <a:t>Average of 65.5%</a:t>
            </a:r>
          </a:p>
          <a:p>
            <a:pPr algn="ctr">
              <a:lnSpc>
                <a:spcPts val="4759"/>
              </a:lnSpc>
            </a:pPr>
            <a:r>
              <a:rPr lang="en-US" sz="3399" b="true">
                <a:solidFill>
                  <a:srgbClr val="0C615D"/>
                </a:solidFill>
                <a:latin typeface="Montserrat Bold"/>
                <a:ea typeface="Montserrat Bold"/>
                <a:cs typeface="Montserrat Bold"/>
                <a:sym typeface="Montserrat Bold"/>
              </a:rPr>
              <a:t>saving vs Traditional Pharmacies</a:t>
            </a:r>
          </a:p>
        </p:txBody>
      </p:sp>
      <p:sp>
        <p:nvSpPr>
          <p:cNvPr name="TextBox 21" id="21"/>
          <p:cNvSpPr txBox="true"/>
          <p:nvPr/>
        </p:nvSpPr>
        <p:spPr>
          <a:xfrm rot="0">
            <a:off x="2070423" y="8526659"/>
            <a:ext cx="7479308" cy="816610"/>
          </a:xfrm>
          <a:prstGeom prst="rect">
            <a:avLst/>
          </a:prstGeom>
        </p:spPr>
        <p:txBody>
          <a:bodyPr anchor="t" rtlCol="false" tIns="0" lIns="0" bIns="0" rIns="0">
            <a:spAutoFit/>
          </a:bodyPr>
          <a:lstStyle/>
          <a:p>
            <a:pPr algn="ctr">
              <a:lnSpc>
                <a:spcPts val="2239"/>
              </a:lnSpc>
            </a:pPr>
            <a:r>
              <a:rPr lang="en-US" sz="1599" i="true">
                <a:solidFill>
                  <a:srgbClr val="0C615D"/>
                </a:solidFill>
                <a:latin typeface="Montserrat Italics"/>
                <a:ea typeface="Montserrat Italics"/>
                <a:cs typeface="Montserrat Italics"/>
                <a:sym typeface="Montserrat Italics"/>
              </a:rPr>
              <a:t>*Prescription Drug Trends.â€ KFF, 2023, </a:t>
            </a:r>
            <a:r>
              <a:rPr lang="en-US" sz="1599" i="true" u="sng">
                <a:solidFill>
                  <a:srgbClr val="0C615D"/>
                </a:solidFill>
                <a:latin typeface="Montserrat Italics"/>
                <a:ea typeface="Montserrat Italics"/>
                <a:cs typeface="Montserrat Italics"/>
                <a:sym typeface="Montserrat Italics"/>
                <a:hlinkClick r:id="rId8" tooltip="https://www.kff.org/health-costs/issue-brief/prescription-drug-trends/"/>
              </a:rPr>
              <a:t>https://www.kff.org/health-costs/issue-brief/prescription-drug-trends/</a:t>
            </a:r>
            <a:r>
              <a:rPr lang="en-US" sz="1599" i="true">
                <a:solidFill>
                  <a:srgbClr val="0C615D"/>
                </a:solidFill>
                <a:latin typeface="Montserrat Italics"/>
                <a:ea typeface="Montserrat Italics"/>
                <a:cs typeface="Montserrat Italics"/>
                <a:sym typeface="Montserrat Italics"/>
              </a:rPr>
              <a:t>. Accessed February 2025.</a:t>
            </a:r>
          </a:p>
          <a:p>
            <a:pPr algn="ctr">
              <a:lnSpc>
                <a:spcPts val="2239"/>
              </a:lnSpc>
            </a:pPr>
          </a:p>
        </p:txBody>
      </p:sp>
      <p:sp>
        <p:nvSpPr>
          <p:cNvPr name="TextBox 22" id="22"/>
          <p:cNvSpPr txBox="true"/>
          <p:nvPr/>
        </p:nvSpPr>
        <p:spPr>
          <a:xfrm rot="0">
            <a:off x="13171711" y="6000779"/>
            <a:ext cx="78581" cy="264160"/>
          </a:xfrm>
          <a:prstGeom prst="rect">
            <a:avLst/>
          </a:prstGeom>
        </p:spPr>
        <p:txBody>
          <a:bodyPr anchor="t" rtlCol="false" tIns="0" lIns="0" bIns="0" rIns="0">
            <a:spAutoFit/>
          </a:bodyPr>
          <a:lstStyle/>
          <a:p>
            <a:pPr algn="ctr">
              <a:lnSpc>
                <a:spcPts val="2239"/>
              </a:lnSpc>
            </a:pPr>
            <a:r>
              <a:rPr lang="en-US" sz="1599">
                <a:solidFill>
                  <a:srgbClr val="FFFFFF"/>
                </a:solidFill>
                <a:latin typeface="Montserrat"/>
                <a:ea typeface="Montserrat"/>
                <a:cs typeface="Montserrat"/>
                <a:sym typeface="Montserrat"/>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AutoShape 2" id="2"/>
          <p:cNvSpPr/>
          <p:nvPr/>
        </p:nvSpPr>
        <p:spPr>
          <a:xfrm rot="0">
            <a:off x="11850061" y="633531"/>
            <a:ext cx="6437939" cy="0"/>
          </a:xfrm>
          <a:prstGeom prst="line">
            <a:avLst/>
          </a:prstGeom>
          <a:ln cap="flat" w="28575">
            <a:solidFill>
              <a:srgbClr val="365B6D"/>
            </a:solidFill>
            <a:prstDash val="solid"/>
            <a:headEnd type="none" len="sm" w="sm"/>
            <a:tailEnd type="none" len="sm" w="sm"/>
          </a:ln>
        </p:spPr>
      </p:sp>
      <p:sp>
        <p:nvSpPr>
          <p:cNvPr name="Freeform 3" id="3"/>
          <p:cNvSpPr/>
          <p:nvPr/>
        </p:nvSpPr>
        <p:spPr>
          <a:xfrm flipH="false" flipV="false" rot="5780224">
            <a:off x="12562901" y="3905445"/>
            <a:ext cx="7062011" cy="6741011"/>
          </a:xfrm>
          <a:custGeom>
            <a:avLst/>
            <a:gdLst/>
            <a:ahLst/>
            <a:cxnLst/>
            <a:rect r="r" b="b" t="t" l="l"/>
            <a:pathLst>
              <a:path h="6741011" w="7062011">
                <a:moveTo>
                  <a:pt x="0" y="0"/>
                </a:moveTo>
                <a:lnTo>
                  <a:pt x="7062011" y="0"/>
                </a:lnTo>
                <a:lnTo>
                  <a:pt x="7062011" y="6741011"/>
                </a:lnTo>
                <a:lnTo>
                  <a:pt x="0" y="67410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609373" y="-568779"/>
            <a:ext cx="3176356" cy="3031976"/>
          </a:xfrm>
          <a:custGeom>
            <a:avLst/>
            <a:gdLst/>
            <a:ahLst/>
            <a:cxnLst/>
            <a:rect r="r" b="b" t="t" l="l"/>
            <a:pathLst>
              <a:path h="3031976" w="3176356">
                <a:moveTo>
                  <a:pt x="0" y="0"/>
                </a:moveTo>
                <a:lnTo>
                  <a:pt x="3176355" y="0"/>
                </a:lnTo>
                <a:lnTo>
                  <a:pt x="3176355" y="3031976"/>
                </a:lnTo>
                <a:lnTo>
                  <a:pt x="0" y="3031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9550609" y="1262206"/>
            <a:ext cx="4051607" cy="3881294"/>
            <a:chOff x="0" y="0"/>
            <a:chExt cx="1997872" cy="1913890"/>
          </a:xfrm>
        </p:grpSpPr>
        <p:sp>
          <p:nvSpPr>
            <p:cNvPr name="Freeform 6" id="6"/>
            <p:cNvSpPr/>
            <p:nvPr/>
          </p:nvSpPr>
          <p:spPr>
            <a:xfrm flipH="false" flipV="false" rot="0">
              <a:off x="0" y="0"/>
              <a:ext cx="1997872" cy="1913890"/>
            </a:xfrm>
            <a:custGeom>
              <a:avLst/>
              <a:gdLst/>
              <a:ahLst/>
              <a:cxnLst/>
              <a:rect r="r" b="b" t="t" l="l"/>
              <a:pathLst>
                <a:path h="1913890" w="1997872">
                  <a:moveTo>
                    <a:pt x="0" y="0"/>
                  </a:moveTo>
                  <a:lnTo>
                    <a:pt x="1997872" y="0"/>
                  </a:lnTo>
                  <a:lnTo>
                    <a:pt x="1997872" y="1913890"/>
                  </a:lnTo>
                  <a:lnTo>
                    <a:pt x="0" y="1913890"/>
                  </a:lnTo>
                  <a:close/>
                </a:path>
              </a:pathLst>
            </a:custGeom>
            <a:solidFill>
              <a:srgbClr val="41C1BA"/>
            </a:solidFill>
          </p:spPr>
        </p:sp>
      </p:grpSp>
      <p:sp>
        <p:nvSpPr>
          <p:cNvPr name="Freeform 7" id="7"/>
          <p:cNvSpPr/>
          <p:nvPr/>
        </p:nvSpPr>
        <p:spPr>
          <a:xfrm flipH="false" flipV="false" rot="0">
            <a:off x="9550609" y="5143500"/>
            <a:ext cx="4051607" cy="3881294"/>
          </a:xfrm>
          <a:custGeom>
            <a:avLst/>
            <a:gdLst/>
            <a:ahLst/>
            <a:cxnLst/>
            <a:rect r="r" b="b" t="t" l="l"/>
            <a:pathLst>
              <a:path h="3881294" w="4051607">
                <a:moveTo>
                  <a:pt x="0" y="0"/>
                </a:moveTo>
                <a:lnTo>
                  <a:pt x="4051607" y="0"/>
                </a:lnTo>
                <a:lnTo>
                  <a:pt x="4051607" y="3881294"/>
                </a:lnTo>
                <a:lnTo>
                  <a:pt x="0" y="3881294"/>
                </a:lnTo>
                <a:lnTo>
                  <a:pt x="0" y="0"/>
                </a:lnTo>
                <a:close/>
              </a:path>
            </a:pathLst>
          </a:custGeom>
          <a:blipFill>
            <a:blip r:embed="rId6"/>
            <a:stretch>
              <a:fillRect l="-15966" t="0" r="-11762" b="0"/>
            </a:stretch>
          </a:blipFill>
        </p:spPr>
      </p:sp>
      <p:sp>
        <p:nvSpPr>
          <p:cNvPr name="Freeform 8" id="8"/>
          <p:cNvSpPr/>
          <p:nvPr/>
        </p:nvSpPr>
        <p:spPr>
          <a:xfrm flipH="false" flipV="false" rot="0">
            <a:off x="13970522" y="1262206"/>
            <a:ext cx="3881294" cy="3881294"/>
          </a:xfrm>
          <a:custGeom>
            <a:avLst/>
            <a:gdLst/>
            <a:ahLst/>
            <a:cxnLst/>
            <a:rect r="r" b="b" t="t" l="l"/>
            <a:pathLst>
              <a:path h="3881294" w="3881294">
                <a:moveTo>
                  <a:pt x="0" y="0"/>
                </a:moveTo>
                <a:lnTo>
                  <a:pt x="3881294" y="0"/>
                </a:lnTo>
                <a:lnTo>
                  <a:pt x="3881294" y="3881294"/>
                </a:lnTo>
                <a:lnTo>
                  <a:pt x="0" y="3881294"/>
                </a:lnTo>
                <a:lnTo>
                  <a:pt x="0" y="0"/>
                </a:lnTo>
                <a:close/>
              </a:path>
            </a:pathLst>
          </a:custGeom>
          <a:blipFill>
            <a:blip r:embed="rId7"/>
            <a:stretch>
              <a:fillRect l="-24626" t="0" r="-24626" b="0"/>
            </a:stretch>
          </a:blipFill>
        </p:spPr>
      </p:sp>
      <p:sp>
        <p:nvSpPr>
          <p:cNvPr name="TextBox 9" id="9"/>
          <p:cNvSpPr txBox="true"/>
          <p:nvPr/>
        </p:nvSpPr>
        <p:spPr>
          <a:xfrm rot="0">
            <a:off x="1371235" y="1938359"/>
            <a:ext cx="8179374" cy="2269802"/>
          </a:xfrm>
          <a:prstGeom prst="rect">
            <a:avLst/>
          </a:prstGeom>
        </p:spPr>
        <p:txBody>
          <a:bodyPr anchor="t" rtlCol="false" tIns="0" lIns="0" bIns="0" rIns="0">
            <a:spAutoFit/>
          </a:bodyPr>
          <a:lstStyle/>
          <a:p>
            <a:pPr algn="l">
              <a:lnSpc>
                <a:spcPts val="8784"/>
              </a:lnSpc>
            </a:pPr>
            <a:r>
              <a:rPr lang="en-US" sz="8963" b="true">
                <a:solidFill>
                  <a:srgbClr val="0C615D"/>
                </a:solidFill>
                <a:latin typeface="Montserrat Bold"/>
                <a:ea typeface="Montserrat Bold"/>
                <a:cs typeface="Montserrat Bold"/>
                <a:sym typeface="Montserrat Bold"/>
              </a:rPr>
              <a:t>Product</a:t>
            </a:r>
          </a:p>
          <a:p>
            <a:pPr algn="l">
              <a:lnSpc>
                <a:spcPts val="8784"/>
              </a:lnSpc>
            </a:pPr>
            <a:r>
              <a:rPr lang="en-US" sz="8963" b="true">
                <a:solidFill>
                  <a:srgbClr val="0C615D"/>
                </a:solidFill>
                <a:latin typeface="Montserrat Bold"/>
                <a:ea typeface="Montserrat Bold"/>
                <a:cs typeface="Montserrat Bold"/>
                <a:sym typeface="Montserrat Bold"/>
              </a:rPr>
              <a:t>Overview</a:t>
            </a:r>
          </a:p>
        </p:txBody>
      </p:sp>
      <p:sp>
        <p:nvSpPr>
          <p:cNvPr name="Freeform 10" id="10"/>
          <p:cNvSpPr/>
          <p:nvPr/>
        </p:nvSpPr>
        <p:spPr>
          <a:xfrm flipH="false" flipV="false" rot="5780224">
            <a:off x="-2159770" y="7786903"/>
            <a:ext cx="7062011" cy="6741011"/>
          </a:xfrm>
          <a:custGeom>
            <a:avLst/>
            <a:gdLst/>
            <a:ahLst/>
            <a:cxnLst/>
            <a:rect r="r" b="b" t="t" l="l"/>
            <a:pathLst>
              <a:path h="6741011" w="7062011">
                <a:moveTo>
                  <a:pt x="0" y="0"/>
                </a:moveTo>
                <a:lnTo>
                  <a:pt x="7062011" y="0"/>
                </a:lnTo>
                <a:lnTo>
                  <a:pt x="7062011" y="6741011"/>
                </a:lnTo>
                <a:lnTo>
                  <a:pt x="0" y="67410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371235" y="4586910"/>
            <a:ext cx="7826315" cy="3349848"/>
          </a:xfrm>
          <a:prstGeom prst="rect">
            <a:avLst/>
          </a:prstGeom>
        </p:spPr>
        <p:txBody>
          <a:bodyPr anchor="t" rtlCol="false" tIns="0" lIns="0" bIns="0" rIns="0">
            <a:spAutoFit/>
          </a:bodyPr>
          <a:lstStyle/>
          <a:p>
            <a:pPr algn="l">
              <a:lnSpc>
                <a:spcPts val="3312"/>
              </a:lnSpc>
            </a:pPr>
            <a:r>
              <a:rPr lang="en-US" sz="2366" b="true">
                <a:solidFill>
                  <a:srgbClr val="0C615D"/>
                </a:solidFill>
                <a:latin typeface="Montserrat Bold"/>
                <a:ea typeface="Montserrat Bold"/>
                <a:cs typeface="Montserrat Bold"/>
                <a:sym typeface="Montserrat Bold"/>
              </a:rPr>
              <a:t>Pillar Drug Club (PDC) offers a smarter, cost-effective way to manage prescription benefits, eliminating inefficiencies and reducing costs for employers and employees. With an bi/annual supply model, we streamline fulfillment, lower claims volume, and provide predictable pharmacy spend.</a:t>
            </a:r>
          </a:p>
          <a:p>
            <a:pPr algn="l">
              <a:lnSpc>
                <a:spcPts val="3312"/>
              </a:lnSpc>
              <a:spcBef>
                <a:spcPct val="0"/>
              </a:spcBef>
            </a:pPr>
          </a:p>
        </p:txBody>
      </p:sp>
      <p:sp>
        <p:nvSpPr>
          <p:cNvPr name="TextBox 12" id="12"/>
          <p:cNvSpPr txBox="true"/>
          <p:nvPr/>
        </p:nvSpPr>
        <p:spPr>
          <a:xfrm rot="0">
            <a:off x="5810077" y="454538"/>
            <a:ext cx="3306558" cy="281747"/>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Classic Bold"/>
                <a:ea typeface="Montserrat Classic Bold"/>
                <a:cs typeface="Montserrat Classic Bold"/>
                <a:sym typeface="Montserrat Classic Bold"/>
              </a:rPr>
              <a:t>Feb. 2025</a:t>
            </a:r>
          </a:p>
        </p:txBody>
      </p:sp>
      <p:sp>
        <p:nvSpPr>
          <p:cNvPr name="AutoShape 13" id="13"/>
          <p:cNvSpPr/>
          <p:nvPr/>
        </p:nvSpPr>
        <p:spPr>
          <a:xfrm rot="0">
            <a:off x="0" y="9700628"/>
            <a:ext cx="18395101" cy="0"/>
          </a:xfrm>
          <a:prstGeom prst="line">
            <a:avLst/>
          </a:prstGeom>
          <a:ln cap="flat" w="38100">
            <a:solidFill>
              <a:srgbClr val="365B6D"/>
            </a:solidFill>
            <a:prstDash val="solid"/>
            <a:headEnd type="none" len="sm" w="sm"/>
            <a:tailEnd type="none" len="sm" w="sm"/>
          </a:ln>
        </p:spPr>
      </p:sp>
      <p:sp>
        <p:nvSpPr>
          <p:cNvPr name="TextBox 14" id="14"/>
          <p:cNvSpPr txBox="true"/>
          <p:nvPr/>
        </p:nvSpPr>
        <p:spPr>
          <a:xfrm rot="0">
            <a:off x="9598627" y="1335105"/>
            <a:ext cx="4051607" cy="523875"/>
          </a:xfrm>
          <a:prstGeom prst="rect">
            <a:avLst/>
          </a:prstGeom>
        </p:spPr>
        <p:txBody>
          <a:bodyPr anchor="t" rtlCol="false" tIns="0" lIns="0" bIns="0" rIns="0">
            <a:spAutoFit/>
          </a:bodyPr>
          <a:lstStyle/>
          <a:p>
            <a:pPr algn="ctr">
              <a:lnSpc>
                <a:spcPts val="4200"/>
              </a:lnSpc>
            </a:pPr>
            <a:r>
              <a:rPr lang="en-US" b="true" sz="3000">
                <a:solidFill>
                  <a:srgbClr val="FFFFFF"/>
                </a:solidFill>
                <a:latin typeface="Montserrat Classic Bold"/>
                <a:ea typeface="Montserrat Classic Bold"/>
                <a:cs typeface="Montserrat Classic Bold"/>
                <a:sym typeface="Montserrat Classic Bold"/>
              </a:rPr>
              <a:t>Foundation Plan</a:t>
            </a:r>
          </a:p>
        </p:txBody>
      </p:sp>
      <p:sp>
        <p:nvSpPr>
          <p:cNvPr name="TextBox 15" id="15"/>
          <p:cNvSpPr txBox="true"/>
          <p:nvPr/>
        </p:nvSpPr>
        <p:spPr>
          <a:xfrm rot="0">
            <a:off x="9760267" y="2717499"/>
            <a:ext cx="3728327" cy="2133600"/>
          </a:xfrm>
          <a:prstGeom prst="rect">
            <a:avLst/>
          </a:prstGeom>
        </p:spPr>
        <p:txBody>
          <a:bodyPr anchor="t" rtlCol="false" tIns="0" lIns="0" bIns="0" rIns="0">
            <a:spAutoFit/>
          </a:bodyPr>
          <a:lstStyle/>
          <a:p>
            <a:pPr algn="l" marL="323850" indent="-161925" lvl="1">
              <a:lnSpc>
                <a:spcPts val="2100"/>
              </a:lnSpc>
              <a:buFont typeface="Arial"/>
              <a:buChar char="•"/>
            </a:pPr>
            <a:r>
              <a:rPr lang="en-US" b="true" sz="1500">
                <a:solidFill>
                  <a:srgbClr val="F7F7F7"/>
                </a:solidFill>
                <a:latin typeface="Montserrat Bold"/>
                <a:ea typeface="Montserrat Bold"/>
                <a:cs typeface="Montserrat Bold"/>
                <a:sym typeface="Montserrat Bold"/>
              </a:rPr>
              <a:t>A strong base for cost control, with employers paying $5 per employee per month.</a:t>
            </a:r>
          </a:p>
          <a:p>
            <a:pPr algn="l">
              <a:lnSpc>
                <a:spcPts val="2100"/>
              </a:lnSpc>
            </a:pPr>
          </a:p>
          <a:p>
            <a:pPr algn="l" marL="323850" indent="-161925" lvl="1">
              <a:lnSpc>
                <a:spcPts val="2100"/>
              </a:lnSpc>
              <a:buFont typeface="Arial"/>
              <a:buChar char="•"/>
            </a:pPr>
            <a:r>
              <a:rPr lang="en-US" b="true" sz="1500">
                <a:solidFill>
                  <a:srgbClr val="F7F7F7"/>
                </a:solidFill>
                <a:latin typeface="Montserrat Bold"/>
                <a:ea typeface="Montserrat Bold"/>
                <a:cs typeface="Montserrat Bold"/>
                <a:sym typeface="Montserrat Bold"/>
              </a:rPr>
              <a:t>Covers pharmacy services     (labor + shipping) for up to 4 medications</a:t>
            </a:r>
          </a:p>
          <a:p>
            <a:pPr algn="l">
              <a:lnSpc>
                <a:spcPts val="2100"/>
              </a:lnSpc>
            </a:pPr>
          </a:p>
        </p:txBody>
      </p:sp>
      <p:grpSp>
        <p:nvGrpSpPr>
          <p:cNvPr name="Group 16" id="16"/>
          <p:cNvGrpSpPr/>
          <p:nvPr/>
        </p:nvGrpSpPr>
        <p:grpSpPr>
          <a:xfrm rot="0">
            <a:off x="13970522" y="5143500"/>
            <a:ext cx="3881294" cy="3881294"/>
            <a:chOff x="0" y="0"/>
            <a:chExt cx="1913890" cy="1913890"/>
          </a:xfrm>
        </p:grpSpPr>
        <p:sp>
          <p:nvSpPr>
            <p:cNvPr name="Freeform 17" id="17"/>
            <p:cNvSpPr/>
            <p:nvPr/>
          </p:nvSpPr>
          <p:spPr>
            <a:xfrm flipH="false" flipV="false" rot="0">
              <a:off x="0" y="0"/>
              <a:ext cx="1913890" cy="1913890"/>
            </a:xfrm>
            <a:custGeom>
              <a:avLst/>
              <a:gdLst/>
              <a:ahLst/>
              <a:cxnLst/>
              <a:rect r="r" b="b" t="t" l="l"/>
              <a:pathLst>
                <a:path h="1913890" w="1913890">
                  <a:moveTo>
                    <a:pt x="0" y="0"/>
                  </a:moveTo>
                  <a:lnTo>
                    <a:pt x="1913890" y="0"/>
                  </a:lnTo>
                  <a:lnTo>
                    <a:pt x="1913890" y="1913890"/>
                  </a:lnTo>
                  <a:lnTo>
                    <a:pt x="0" y="1913890"/>
                  </a:lnTo>
                  <a:close/>
                </a:path>
              </a:pathLst>
            </a:custGeom>
            <a:solidFill>
              <a:srgbClr val="0C615D"/>
            </a:solidFill>
          </p:spPr>
        </p:sp>
      </p:grpSp>
      <p:sp>
        <p:nvSpPr>
          <p:cNvPr name="TextBox 18" id="18"/>
          <p:cNvSpPr txBox="true"/>
          <p:nvPr/>
        </p:nvSpPr>
        <p:spPr>
          <a:xfrm rot="0">
            <a:off x="14176689" y="6616608"/>
            <a:ext cx="3348897" cy="2133600"/>
          </a:xfrm>
          <a:prstGeom prst="rect">
            <a:avLst/>
          </a:prstGeom>
        </p:spPr>
        <p:txBody>
          <a:bodyPr anchor="t" rtlCol="false" tIns="0" lIns="0" bIns="0" rIns="0">
            <a:spAutoFit/>
          </a:bodyPr>
          <a:lstStyle/>
          <a:p>
            <a:pPr algn="l" marL="323850" indent="-161925" lvl="1">
              <a:lnSpc>
                <a:spcPts val="2100"/>
              </a:lnSpc>
              <a:buFont typeface="Arial"/>
              <a:buChar char="•"/>
            </a:pPr>
            <a:r>
              <a:rPr lang="en-US" b="true" sz="1500">
                <a:solidFill>
                  <a:srgbClr val="F7F7F7"/>
                </a:solidFill>
                <a:latin typeface="Montserrat Bold"/>
                <a:ea typeface="Montserrat Bold"/>
                <a:cs typeface="Montserrat Bold"/>
                <a:sym typeface="Montserrat Bold"/>
              </a:rPr>
              <a:t>Covers labor, and shipping costs for 5 or more medications</a:t>
            </a:r>
          </a:p>
          <a:p>
            <a:pPr algn="l">
              <a:lnSpc>
                <a:spcPts val="2100"/>
              </a:lnSpc>
            </a:pPr>
          </a:p>
          <a:p>
            <a:pPr algn="l" marL="323850" indent="-161925" lvl="1">
              <a:lnSpc>
                <a:spcPts val="2100"/>
              </a:lnSpc>
              <a:buFont typeface="Arial"/>
              <a:buChar char="•"/>
            </a:pPr>
            <a:r>
              <a:rPr lang="en-US" b="true" sz="1500">
                <a:solidFill>
                  <a:srgbClr val="F7F7F7"/>
                </a:solidFill>
                <a:latin typeface="Montserrat Bold"/>
                <a:ea typeface="Montserrat Bold"/>
                <a:cs typeface="Montserrat Bold"/>
                <a:sym typeface="Montserrat Bold"/>
              </a:rPr>
              <a:t>Ideal for high-utilization employees for managing complex therapies</a:t>
            </a:r>
          </a:p>
          <a:p>
            <a:pPr algn="l">
              <a:lnSpc>
                <a:spcPts val="2100"/>
              </a:lnSpc>
            </a:pPr>
          </a:p>
        </p:txBody>
      </p:sp>
      <p:sp>
        <p:nvSpPr>
          <p:cNvPr name="TextBox 19" id="19"/>
          <p:cNvSpPr txBox="true"/>
          <p:nvPr/>
        </p:nvSpPr>
        <p:spPr>
          <a:xfrm rot="0">
            <a:off x="14354196" y="5180414"/>
            <a:ext cx="2993883" cy="523875"/>
          </a:xfrm>
          <a:prstGeom prst="rect">
            <a:avLst/>
          </a:prstGeom>
        </p:spPr>
        <p:txBody>
          <a:bodyPr anchor="t" rtlCol="false" tIns="0" lIns="0" bIns="0" rIns="0">
            <a:spAutoFit/>
          </a:bodyPr>
          <a:lstStyle/>
          <a:p>
            <a:pPr algn="ctr">
              <a:lnSpc>
                <a:spcPts val="4200"/>
              </a:lnSpc>
            </a:pPr>
            <a:r>
              <a:rPr lang="en-US" b="true" sz="3000">
                <a:solidFill>
                  <a:srgbClr val="F7F7F7"/>
                </a:solidFill>
                <a:latin typeface="Montserrat Classic Bold"/>
                <a:ea typeface="Montserrat Classic Bold"/>
                <a:cs typeface="Montserrat Classic Bold"/>
                <a:sym typeface="Montserrat Classic Bold"/>
              </a:rPr>
              <a:t>Keystone Plan</a:t>
            </a:r>
          </a:p>
        </p:txBody>
      </p:sp>
      <p:sp>
        <p:nvSpPr>
          <p:cNvPr name="Freeform 20" id="20"/>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8"/>
            <a:stretch>
              <a:fillRect l="0" t="-220335" r="0" b="-28182"/>
            </a:stretch>
          </a:blipFill>
        </p:spPr>
      </p:sp>
      <p:sp>
        <p:nvSpPr>
          <p:cNvPr name="TextBox 21" id="21"/>
          <p:cNvSpPr txBox="true"/>
          <p:nvPr/>
        </p:nvSpPr>
        <p:spPr>
          <a:xfrm rot="0">
            <a:off x="10163161" y="1921108"/>
            <a:ext cx="2922538"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Montserrat Classic Bold"/>
                <a:ea typeface="Montserrat Classic Bold"/>
                <a:cs typeface="Montserrat Classic Bold"/>
                <a:sym typeface="Montserrat Classic Bold"/>
              </a:rPr>
              <a:t>$60 upfront + $5 PEPM</a:t>
            </a:r>
          </a:p>
        </p:txBody>
      </p:sp>
      <p:sp>
        <p:nvSpPr>
          <p:cNvPr name="TextBox 22" id="22"/>
          <p:cNvSpPr txBox="true"/>
          <p:nvPr/>
        </p:nvSpPr>
        <p:spPr>
          <a:xfrm rot="0">
            <a:off x="14263439" y="5761439"/>
            <a:ext cx="3175397"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Montserrat Classic Bold"/>
                <a:ea typeface="Montserrat Classic Bold"/>
                <a:cs typeface="Montserrat Classic Bold"/>
                <a:sym typeface="Montserrat Classic Bold"/>
              </a:rPr>
              <a:t>$120 Upfront + $10 PEPM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65117" y="1287480"/>
            <a:ext cx="11996798" cy="1023191"/>
          </a:xfrm>
          <a:prstGeom prst="rect">
            <a:avLst/>
          </a:prstGeom>
        </p:spPr>
        <p:txBody>
          <a:bodyPr anchor="t" rtlCol="false" tIns="0" lIns="0" bIns="0" rIns="0">
            <a:spAutoFit/>
          </a:bodyPr>
          <a:lstStyle/>
          <a:p>
            <a:pPr algn="l">
              <a:lnSpc>
                <a:spcPts val="8378"/>
              </a:lnSpc>
            </a:pPr>
            <a:r>
              <a:rPr lang="en-US" sz="5984" b="true">
                <a:solidFill>
                  <a:srgbClr val="0C615D"/>
                </a:solidFill>
                <a:latin typeface="Montserrat Bold"/>
                <a:ea typeface="Montserrat Bold"/>
                <a:cs typeface="Montserrat Bold"/>
                <a:sym typeface="Montserrat Bold"/>
              </a:rPr>
              <a:t>Competitive Analysis</a:t>
            </a:r>
          </a:p>
        </p:txBody>
      </p:sp>
      <p:sp>
        <p:nvSpPr>
          <p:cNvPr name="Freeform 3" id="3"/>
          <p:cNvSpPr/>
          <p:nvPr/>
        </p:nvSpPr>
        <p:spPr>
          <a:xfrm flipH="false" flipV="false" rot="0">
            <a:off x="13361916" y="-2464200"/>
            <a:ext cx="5163086" cy="4928401"/>
          </a:xfrm>
          <a:custGeom>
            <a:avLst/>
            <a:gdLst/>
            <a:ahLst/>
            <a:cxnLst/>
            <a:rect r="r" b="b" t="t" l="l"/>
            <a:pathLst>
              <a:path h="4928401" w="5163086">
                <a:moveTo>
                  <a:pt x="0" y="0"/>
                </a:moveTo>
                <a:lnTo>
                  <a:pt x="5163086" y="0"/>
                </a:lnTo>
                <a:lnTo>
                  <a:pt x="5163086" y="4928400"/>
                </a:lnTo>
                <a:lnTo>
                  <a:pt x="0" y="4928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11850061" y="661348"/>
            <a:ext cx="6437939" cy="0"/>
          </a:xfrm>
          <a:prstGeom prst="line">
            <a:avLst/>
          </a:prstGeom>
          <a:ln cap="flat" w="28575">
            <a:solidFill>
              <a:srgbClr val="365B6D"/>
            </a:solidFill>
            <a:prstDash val="solid"/>
            <a:headEnd type="none" len="sm" w="sm"/>
            <a:tailEnd type="none" len="sm" w="sm"/>
          </a:ln>
        </p:spPr>
      </p:sp>
      <p:sp>
        <p:nvSpPr>
          <p:cNvPr name="TextBox 5" id="5"/>
          <p:cNvSpPr txBox="true"/>
          <p:nvPr/>
        </p:nvSpPr>
        <p:spPr>
          <a:xfrm rot="0">
            <a:off x="5810077" y="482355"/>
            <a:ext cx="3306558" cy="281747"/>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Classic Bold"/>
                <a:ea typeface="Montserrat Classic Bold"/>
                <a:cs typeface="Montserrat Classic Bold"/>
                <a:sym typeface="Montserrat Classic Bold"/>
              </a:rPr>
              <a:t>Feb. 2025</a:t>
            </a:r>
          </a:p>
        </p:txBody>
      </p:sp>
      <p:sp>
        <p:nvSpPr>
          <p:cNvPr name="AutoShape 6" id="6"/>
          <p:cNvSpPr/>
          <p:nvPr/>
        </p:nvSpPr>
        <p:spPr>
          <a:xfrm rot="0">
            <a:off x="0" y="9728445"/>
            <a:ext cx="18395101" cy="0"/>
          </a:xfrm>
          <a:prstGeom prst="line">
            <a:avLst/>
          </a:prstGeom>
          <a:ln cap="flat" w="38100">
            <a:solidFill>
              <a:srgbClr val="365B6D"/>
            </a:solidFill>
            <a:prstDash val="solid"/>
            <a:headEnd type="none" len="sm" w="sm"/>
            <a:tailEnd type="none" len="sm" w="sm"/>
          </a:ln>
        </p:spPr>
      </p:sp>
      <p:pic>
        <p:nvPicPr>
          <p:cNvPr name="Picture 7" id="7"/>
          <p:cNvPicPr>
            <a:picLocks noChangeAspect="true"/>
          </p:cNvPicPr>
          <p:nvPr/>
        </p:nvPicPr>
        <p:blipFill>
          <a:blip r:embed="rId4"/>
          <a:stretch>
            <a:fillRect/>
          </a:stretch>
        </p:blipFill>
        <p:spPr>
          <a:xfrm rot="0">
            <a:off x="508327" y="2444965"/>
            <a:ext cx="10281480" cy="6719394"/>
          </a:xfrm>
          <a:prstGeom prst="rect">
            <a:avLst/>
          </a:prstGeom>
        </p:spPr>
      </p:pic>
      <p:sp>
        <p:nvSpPr>
          <p:cNvPr name="Freeform 8" id="8"/>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5"/>
            <a:stretch>
              <a:fillRect l="0" t="-220335" r="0" b="-28182"/>
            </a:stretch>
          </a:blipFill>
        </p:spPr>
      </p:sp>
      <p:sp>
        <p:nvSpPr>
          <p:cNvPr name="TextBox 9" id="9"/>
          <p:cNvSpPr txBox="true"/>
          <p:nvPr/>
        </p:nvSpPr>
        <p:spPr>
          <a:xfrm rot="0">
            <a:off x="10283284" y="2546652"/>
            <a:ext cx="7760398" cy="6259830"/>
          </a:xfrm>
          <a:prstGeom prst="rect">
            <a:avLst/>
          </a:prstGeom>
        </p:spPr>
        <p:txBody>
          <a:bodyPr anchor="t" rtlCol="false" tIns="0" lIns="0" bIns="0" rIns="0">
            <a:spAutoFit/>
          </a:bodyPr>
          <a:lstStyle/>
          <a:p>
            <a:pPr algn="l">
              <a:lnSpc>
                <a:spcPts val="3779"/>
              </a:lnSpc>
            </a:pPr>
            <a:r>
              <a:rPr lang="en-US" sz="2699" b="true">
                <a:solidFill>
                  <a:srgbClr val="0C615D"/>
                </a:solidFill>
                <a:latin typeface="Montserrat Bold"/>
                <a:ea typeface="Montserrat Bold"/>
                <a:cs typeface="Montserrat Bold"/>
                <a:sym typeface="Montserrat Bold"/>
              </a:rPr>
              <a:t>Cost-Controlled &amp; Transparency</a:t>
            </a:r>
          </a:p>
          <a:p>
            <a:pPr algn="l">
              <a:lnSpc>
                <a:spcPts val="2940"/>
              </a:lnSpc>
            </a:pPr>
            <a:r>
              <a:rPr lang="en-US" sz="2100">
                <a:solidFill>
                  <a:srgbClr val="0C615D"/>
                </a:solidFill>
                <a:latin typeface="Montserrat"/>
                <a:ea typeface="Montserrat"/>
                <a:cs typeface="Montserrat"/>
                <a:sym typeface="Montserrat"/>
              </a:rPr>
              <a:t>When comparing Pillar Drug Club, Mark Cuban Cost Plus Drugs, Blueberry Pharmacy, and ScriptCo, </a:t>
            </a:r>
            <a:r>
              <a:rPr lang="en-US" sz="2100" b="true">
                <a:solidFill>
                  <a:srgbClr val="0C615D"/>
                </a:solidFill>
                <a:latin typeface="Montserrat Bold"/>
                <a:ea typeface="Montserrat Bold"/>
                <a:cs typeface="Montserrat Bold"/>
                <a:sym typeface="Montserrat Bold"/>
              </a:rPr>
              <a:t>Pillar Drug Club stands out for its predictable, low-cost model—without the risk of percentage-based markups inflating costs.</a:t>
            </a:r>
          </a:p>
          <a:p>
            <a:pPr algn="l" marL="431802" indent="-215901" lvl="1">
              <a:lnSpc>
                <a:spcPts val="2800"/>
              </a:lnSpc>
              <a:buFont typeface="Arial"/>
              <a:buChar char="•"/>
            </a:pPr>
            <a:r>
              <a:rPr lang="en-US" sz="2000">
                <a:solidFill>
                  <a:srgbClr val="0C615D"/>
                </a:solidFill>
                <a:latin typeface="Montserrat"/>
                <a:ea typeface="Montserrat"/>
                <a:cs typeface="Montserrat"/>
                <a:sym typeface="Montserrat"/>
              </a:rPr>
              <a:t>Pillar Drug Club: $236 total, with $120 in admin costs, ensuring affordability and stability for employers.</a:t>
            </a:r>
          </a:p>
          <a:p>
            <a:pPr algn="l" marL="431802" indent="-215901" lvl="1">
              <a:lnSpc>
                <a:spcPts val="2800"/>
              </a:lnSpc>
              <a:buFont typeface="Arial"/>
              <a:buChar char="•"/>
            </a:pPr>
            <a:r>
              <a:rPr lang="en-US" sz="2000">
                <a:solidFill>
                  <a:srgbClr val="0C615D"/>
                </a:solidFill>
                <a:latin typeface="Montserrat"/>
                <a:ea typeface="Montserrat"/>
                <a:cs typeface="Montserrat"/>
                <a:sym typeface="Montserrat"/>
              </a:rPr>
              <a:t>Mark Cuban Cost Plus Drugs: $244.00 total, with a 15% markup that can skyrocket costs for expensive drugs.</a:t>
            </a:r>
          </a:p>
          <a:p>
            <a:pPr algn="l" marL="431802" indent="-215901" lvl="1">
              <a:lnSpc>
                <a:spcPts val="2800"/>
              </a:lnSpc>
              <a:buFont typeface="Arial"/>
              <a:buChar char="•"/>
            </a:pPr>
            <a:r>
              <a:rPr lang="en-US" sz="2000">
                <a:solidFill>
                  <a:srgbClr val="0C615D"/>
                </a:solidFill>
                <a:latin typeface="Montserrat"/>
                <a:ea typeface="Montserrat"/>
                <a:cs typeface="Montserrat"/>
                <a:sym typeface="Montserrat"/>
              </a:rPr>
              <a:t>Blueberry Pharmacy: $241.80 total, with $125.80 in admin fees, offering no pricing advantage or predictability.</a:t>
            </a:r>
          </a:p>
          <a:p>
            <a:pPr algn="l" marL="431802" indent="-215901" lvl="1">
              <a:lnSpc>
                <a:spcPts val="2800"/>
              </a:lnSpc>
              <a:buFont typeface="Arial"/>
              <a:buChar char="•"/>
            </a:pPr>
            <a:r>
              <a:rPr lang="en-US" sz="2000">
                <a:solidFill>
                  <a:srgbClr val="0C615D"/>
                </a:solidFill>
                <a:latin typeface="Montserrat"/>
                <a:ea typeface="Montserrat"/>
                <a:cs typeface="Montserrat"/>
                <a:sym typeface="Montserrat"/>
              </a:rPr>
              <a:t>ScriptCo: $316 total, with $200 in admin fees, making it the priciest option.</a:t>
            </a:r>
          </a:p>
          <a:p>
            <a:pPr algn="l">
              <a:lnSpc>
                <a:spcPts val="2800"/>
              </a:lnSpc>
            </a:pPr>
            <a:r>
              <a:rPr lang="en-US" sz="2000" b="true">
                <a:solidFill>
                  <a:srgbClr val="0C615D"/>
                </a:solidFill>
                <a:latin typeface="Montserrat Bold"/>
                <a:ea typeface="Montserrat Bold"/>
                <a:cs typeface="Montserrat Bold"/>
                <a:sym typeface="Montserrat Bold"/>
              </a:rPr>
              <a:t>Mark Cuban’s model is still close—until an expensive drug comes in. Then, that 15% markup isn’t so friendly.</a:t>
            </a:r>
          </a:p>
          <a:p>
            <a:pPr algn="just">
              <a:lnSpc>
                <a:spcPts val="3359"/>
              </a:lnSpc>
            </a:pPr>
          </a:p>
        </p:txBody>
      </p:sp>
      <p:sp>
        <p:nvSpPr>
          <p:cNvPr name="TextBox 10" id="10"/>
          <p:cNvSpPr txBox="true"/>
          <p:nvPr/>
        </p:nvSpPr>
        <p:spPr>
          <a:xfrm rot="0">
            <a:off x="1769723" y="2556177"/>
            <a:ext cx="7256711" cy="396240"/>
          </a:xfrm>
          <a:prstGeom prst="rect">
            <a:avLst/>
          </a:prstGeom>
        </p:spPr>
        <p:txBody>
          <a:bodyPr anchor="t" rtlCol="false" tIns="0" lIns="0" bIns="0" rIns="0">
            <a:spAutoFit/>
          </a:bodyPr>
          <a:lstStyle/>
          <a:p>
            <a:pPr algn="ctr">
              <a:lnSpc>
                <a:spcPts val="3359"/>
              </a:lnSpc>
            </a:pPr>
            <a:r>
              <a:rPr lang="en-US" sz="2400" b="true">
                <a:solidFill>
                  <a:srgbClr val="0C615D"/>
                </a:solidFill>
                <a:latin typeface="Montserrat Bold"/>
                <a:ea typeface="Montserrat Bold"/>
                <a:cs typeface="Montserrat Bold"/>
                <a:sym typeface="Montserrat Bold"/>
              </a:rPr>
              <a:t>Annual Cost for 4 Generic Medications at $116</a:t>
            </a:r>
          </a:p>
        </p:txBody>
      </p:sp>
      <p:sp>
        <p:nvSpPr>
          <p:cNvPr name="Freeform 11" id="11"/>
          <p:cNvSpPr/>
          <p:nvPr/>
        </p:nvSpPr>
        <p:spPr>
          <a:xfrm flipH="false" flipV="false" rot="0">
            <a:off x="-1552843" y="8307568"/>
            <a:ext cx="5163086" cy="4928401"/>
          </a:xfrm>
          <a:custGeom>
            <a:avLst/>
            <a:gdLst/>
            <a:ahLst/>
            <a:cxnLst/>
            <a:rect r="r" b="b" t="t" l="l"/>
            <a:pathLst>
              <a:path h="4928401" w="5163086">
                <a:moveTo>
                  <a:pt x="0" y="0"/>
                </a:moveTo>
                <a:lnTo>
                  <a:pt x="5163086" y="0"/>
                </a:lnTo>
                <a:lnTo>
                  <a:pt x="5163086" y="4928401"/>
                </a:lnTo>
                <a:lnTo>
                  <a:pt x="0" y="492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6069622">
            <a:off x="14829867" y="8433648"/>
            <a:ext cx="5163086" cy="4928401"/>
          </a:xfrm>
          <a:custGeom>
            <a:avLst/>
            <a:gdLst/>
            <a:ahLst/>
            <a:cxnLst/>
            <a:rect r="r" b="b" t="t" l="l"/>
            <a:pathLst>
              <a:path h="4928401" w="5163086">
                <a:moveTo>
                  <a:pt x="0" y="0"/>
                </a:moveTo>
                <a:lnTo>
                  <a:pt x="5163086" y="0"/>
                </a:lnTo>
                <a:lnTo>
                  <a:pt x="5163086" y="4928401"/>
                </a:lnTo>
                <a:lnTo>
                  <a:pt x="0" y="492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AutoShape 2" id="2"/>
          <p:cNvSpPr/>
          <p:nvPr/>
        </p:nvSpPr>
        <p:spPr>
          <a:xfrm rot="0">
            <a:off x="11850061" y="661348"/>
            <a:ext cx="6437939" cy="0"/>
          </a:xfrm>
          <a:prstGeom prst="line">
            <a:avLst/>
          </a:prstGeom>
          <a:ln cap="flat" w="28575">
            <a:solidFill>
              <a:srgbClr val="365B6D"/>
            </a:solidFill>
            <a:prstDash val="solid"/>
            <a:headEnd type="none" len="sm" w="sm"/>
            <a:tailEnd type="none" len="sm" w="sm"/>
          </a:ln>
        </p:spPr>
      </p:sp>
      <p:sp>
        <p:nvSpPr>
          <p:cNvPr name="Freeform 3" id="3"/>
          <p:cNvSpPr/>
          <p:nvPr/>
        </p:nvSpPr>
        <p:spPr>
          <a:xfrm flipH="false" flipV="false" rot="0">
            <a:off x="5490925" y="9258300"/>
            <a:ext cx="7315200" cy="3271889"/>
          </a:xfrm>
          <a:custGeom>
            <a:avLst/>
            <a:gdLst/>
            <a:ahLst/>
            <a:cxnLst/>
            <a:rect r="r" b="b" t="t" l="l"/>
            <a:pathLst>
              <a:path h="3271889" w="7315200">
                <a:moveTo>
                  <a:pt x="0" y="0"/>
                </a:moveTo>
                <a:lnTo>
                  <a:pt x="7315200" y="0"/>
                </a:lnTo>
                <a:lnTo>
                  <a:pt x="7315200" y="3271889"/>
                </a:lnTo>
                <a:lnTo>
                  <a:pt x="0" y="3271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0" y="9728445"/>
            <a:ext cx="18395101" cy="0"/>
          </a:xfrm>
          <a:prstGeom prst="line">
            <a:avLst/>
          </a:prstGeom>
          <a:ln cap="flat" w="38100">
            <a:solidFill>
              <a:srgbClr val="365B6D"/>
            </a:solidFill>
            <a:prstDash val="solid"/>
            <a:headEnd type="none" len="sm" w="sm"/>
            <a:tailEnd type="none" len="sm" w="sm"/>
          </a:ln>
        </p:spPr>
      </p:sp>
      <p:sp>
        <p:nvSpPr>
          <p:cNvPr name="Freeform 5" id="5"/>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4"/>
            <a:stretch>
              <a:fillRect l="0" t="-220335" r="0" b="-28182"/>
            </a:stretch>
          </a:blipFill>
        </p:spPr>
      </p:sp>
      <p:sp>
        <p:nvSpPr>
          <p:cNvPr name="Freeform 6" id="6"/>
          <p:cNvSpPr/>
          <p:nvPr/>
        </p:nvSpPr>
        <p:spPr>
          <a:xfrm flipH="false" flipV="false" rot="0">
            <a:off x="7708171" y="5382985"/>
            <a:ext cx="2880709" cy="2567431"/>
          </a:xfrm>
          <a:custGeom>
            <a:avLst/>
            <a:gdLst/>
            <a:ahLst/>
            <a:cxnLst/>
            <a:rect r="r" b="b" t="t" l="l"/>
            <a:pathLst>
              <a:path h="2567431" w="2880709">
                <a:moveTo>
                  <a:pt x="0" y="0"/>
                </a:moveTo>
                <a:lnTo>
                  <a:pt x="2880708" y="0"/>
                </a:lnTo>
                <a:lnTo>
                  <a:pt x="2880708" y="2567432"/>
                </a:lnTo>
                <a:lnTo>
                  <a:pt x="0" y="25674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713760" y="1803413"/>
            <a:ext cx="12869530" cy="1178282"/>
          </a:xfrm>
          <a:prstGeom prst="rect">
            <a:avLst/>
          </a:prstGeom>
        </p:spPr>
        <p:txBody>
          <a:bodyPr anchor="t" rtlCol="false" tIns="0" lIns="0" bIns="0" rIns="0">
            <a:spAutoFit/>
          </a:bodyPr>
          <a:lstStyle/>
          <a:p>
            <a:pPr algn="ctr">
              <a:lnSpc>
                <a:spcPts val="9604"/>
              </a:lnSpc>
            </a:pPr>
            <a:r>
              <a:rPr lang="en-US" b="true" sz="6860" u="sng">
                <a:solidFill>
                  <a:srgbClr val="0C615D"/>
                </a:solidFill>
                <a:latin typeface="Montserrat Bold"/>
                <a:ea typeface="Montserrat Bold"/>
                <a:cs typeface="Montserrat Bold"/>
                <a:sym typeface="Montserrat Bold"/>
              </a:rPr>
              <a:t>Pillars of Success</a:t>
            </a:r>
          </a:p>
        </p:txBody>
      </p:sp>
      <p:sp>
        <p:nvSpPr>
          <p:cNvPr name="TextBox 8" id="8"/>
          <p:cNvSpPr txBox="true"/>
          <p:nvPr/>
        </p:nvSpPr>
        <p:spPr>
          <a:xfrm rot="0">
            <a:off x="5810077" y="482355"/>
            <a:ext cx="3306558" cy="281747"/>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Classic Bold"/>
                <a:ea typeface="Montserrat Classic Bold"/>
                <a:cs typeface="Montserrat Classic Bold"/>
                <a:sym typeface="Montserrat Classic Bold"/>
              </a:rPr>
              <a:t>Feb. 2025</a:t>
            </a:r>
          </a:p>
        </p:txBody>
      </p:sp>
      <p:sp>
        <p:nvSpPr>
          <p:cNvPr name="TextBox 9" id="9"/>
          <p:cNvSpPr txBox="true"/>
          <p:nvPr/>
        </p:nvSpPr>
        <p:spPr>
          <a:xfrm rot="0">
            <a:off x="11136922" y="4479861"/>
            <a:ext cx="6793908" cy="2567858"/>
          </a:xfrm>
          <a:prstGeom prst="rect">
            <a:avLst/>
          </a:prstGeom>
        </p:spPr>
        <p:txBody>
          <a:bodyPr anchor="t" rtlCol="false" tIns="0" lIns="0" bIns="0" rIns="0">
            <a:spAutoFit/>
          </a:bodyPr>
          <a:lstStyle/>
          <a:p>
            <a:pPr algn="just">
              <a:lnSpc>
                <a:spcPts val="3359"/>
              </a:lnSpc>
            </a:pPr>
          </a:p>
          <a:p>
            <a:pPr algn="ctr">
              <a:lnSpc>
                <a:spcPts val="3919"/>
              </a:lnSpc>
            </a:pPr>
            <a:r>
              <a:rPr lang="en-US" b="true" sz="2799" spc="-92" u="sng">
                <a:solidFill>
                  <a:srgbClr val="4AB1B4"/>
                </a:solidFill>
                <a:latin typeface="Montserrat Bold"/>
                <a:ea typeface="Montserrat Bold"/>
                <a:cs typeface="Montserrat Bold"/>
                <a:sym typeface="Montserrat Bold"/>
              </a:rPr>
              <a:t>Efficiency Focused:</a:t>
            </a:r>
            <a:r>
              <a:rPr lang="en-US" sz="2799" spc="-92" u="sng">
                <a:solidFill>
                  <a:srgbClr val="4AB1B4"/>
                </a:solidFill>
                <a:latin typeface="Montserrat"/>
                <a:ea typeface="Montserrat"/>
                <a:cs typeface="Montserrat"/>
                <a:sym typeface="Montserrat"/>
              </a:rPr>
              <a:t> </a:t>
            </a:r>
          </a:p>
          <a:p>
            <a:pPr algn="ctr">
              <a:lnSpc>
                <a:spcPts val="3359"/>
              </a:lnSpc>
            </a:pPr>
            <a:r>
              <a:rPr lang="en-US" sz="2400" spc="-79">
                <a:solidFill>
                  <a:srgbClr val="4AB1B4"/>
                </a:solidFill>
                <a:latin typeface="Montserrat"/>
                <a:ea typeface="Montserrat"/>
                <a:cs typeface="Montserrat"/>
                <a:sym typeface="Montserrat"/>
              </a:rPr>
              <a:t>Our </a:t>
            </a:r>
            <a:r>
              <a:rPr lang="en-US" b="true" sz="2400" spc="-79">
                <a:solidFill>
                  <a:srgbClr val="4AB1B4"/>
                </a:solidFill>
                <a:latin typeface="Montserrat Bold"/>
                <a:ea typeface="Montserrat Bold"/>
                <a:cs typeface="Montserrat Bold"/>
                <a:sym typeface="Montserrat Bold"/>
              </a:rPr>
              <a:t>streamlined model</a:t>
            </a:r>
            <a:r>
              <a:rPr lang="en-US" sz="2400" spc="-79">
                <a:solidFill>
                  <a:srgbClr val="4AB1B4"/>
                </a:solidFill>
                <a:latin typeface="Montserrat"/>
                <a:ea typeface="Montserrat"/>
                <a:cs typeface="Montserrat"/>
                <a:sym typeface="Montserrat"/>
              </a:rPr>
              <a:t> eliminates unnecessary costs and complexity, ensuring </a:t>
            </a:r>
            <a:r>
              <a:rPr lang="en-US" b="true" sz="2400" spc="-79">
                <a:solidFill>
                  <a:srgbClr val="4AB1B4"/>
                </a:solidFill>
                <a:latin typeface="Montserrat Bold"/>
                <a:ea typeface="Montserrat Bold"/>
                <a:cs typeface="Montserrat Bold"/>
                <a:sym typeface="Montserrat Bold"/>
              </a:rPr>
              <a:t>seamless medication access.</a:t>
            </a:r>
          </a:p>
          <a:p>
            <a:pPr algn="just">
              <a:lnSpc>
                <a:spcPts val="3359"/>
              </a:lnSpc>
            </a:pPr>
          </a:p>
        </p:txBody>
      </p:sp>
      <p:sp>
        <p:nvSpPr>
          <p:cNvPr name="Freeform 10" id="10"/>
          <p:cNvSpPr/>
          <p:nvPr/>
        </p:nvSpPr>
        <p:spPr>
          <a:xfrm flipH="false" flipV="false" rot="0">
            <a:off x="2713760" y="6791909"/>
            <a:ext cx="2880709" cy="2567431"/>
          </a:xfrm>
          <a:custGeom>
            <a:avLst/>
            <a:gdLst/>
            <a:ahLst/>
            <a:cxnLst/>
            <a:rect r="r" b="b" t="t" l="l"/>
            <a:pathLst>
              <a:path h="2567431" w="2880709">
                <a:moveTo>
                  <a:pt x="0" y="0"/>
                </a:moveTo>
                <a:lnTo>
                  <a:pt x="2880709" y="0"/>
                </a:lnTo>
                <a:lnTo>
                  <a:pt x="2880709" y="2567431"/>
                </a:lnTo>
                <a:lnTo>
                  <a:pt x="0" y="2567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3093522" y="6791909"/>
            <a:ext cx="2880709" cy="2567431"/>
          </a:xfrm>
          <a:custGeom>
            <a:avLst/>
            <a:gdLst/>
            <a:ahLst/>
            <a:cxnLst/>
            <a:rect r="r" b="b" t="t" l="l"/>
            <a:pathLst>
              <a:path h="2567431" w="2880709">
                <a:moveTo>
                  <a:pt x="0" y="0"/>
                </a:moveTo>
                <a:lnTo>
                  <a:pt x="2880708" y="0"/>
                </a:lnTo>
                <a:lnTo>
                  <a:pt x="2880708" y="2567431"/>
                </a:lnTo>
                <a:lnTo>
                  <a:pt x="0" y="25674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5879332" y="3364322"/>
            <a:ext cx="6538386" cy="1779178"/>
          </a:xfrm>
          <a:prstGeom prst="rect">
            <a:avLst/>
          </a:prstGeom>
        </p:spPr>
        <p:txBody>
          <a:bodyPr anchor="t" rtlCol="false" tIns="0" lIns="0" bIns="0" rIns="0">
            <a:spAutoFit/>
          </a:bodyPr>
          <a:lstStyle/>
          <a:p>
            <a:pPr algn="ctr">
              <a:lnSpc>
                <a:spcPts val="4199"/>
              </a:lnSpc>
            </a:pPr>
            <a:r>
              <a:rPr lang="en-US" b="true" sz="2799" spc="83" u="sng">
                <a:solidFill>
                  <a:srgbClr val="0C615D"/>
                </a:solidFill>
                <a:latin typeface="Montserrat Bold"/>
                <a:ea typeface="Montserrat Bold"/>
                <a:cs typeface="Montserrat Bold"/>
                <a:sym typeface="Montserrat Bold"/>
              </a:rPr>
              <a:t>Premier Patient Care:</a:t>
            </a:r>
          </a:p>
          <a:p>
            <a:pPr algn="ctr">
              <a:lnSpc>
                <a:spcPts val="3449"/>
              </a:lnSpc>
              <a:spcBef>
                <a:spcPct val="0"/>
              </a:spcBef>
            </a:pPr>
            <a:r>
              <a:rPr lang="en-US" sz="2299" spc="68">
                <a:solidFill>
                  <a:srgbClr val="0C615D"/>
                </a:solidFill>
                <a:latin typeface="Montserrat"/>
                <a:ea typeface="Montserrat"/>
                <a:cs typeface="Montserrat"/>
                <a:sym typeface="Montserrat"/>
              </a:rPr>
              <a:t> Less time spent on dispensing means more time </a:t>
            </a:r>
            <a:r>
              <a:rPr lang="en-US" b="true" sz="2299" spc="68">
                <a:solidFill>
                  <a:srgbClr val="0C615D"/>
                </a:solidFill>
                <a:latin typeface="Montserrat Bold"/>
                <a:ea typeface="Montserrat Bold"/>
                <a:cs typeface="Montserrat Bold"/>
                <a:sym typeface="Montserrat Bold"/>
              </a:rPr>
              <a:t>focused on patient support and well-being.</a:t>
            </a:r>
          </a:p>
        </p:txBody>
      </p:sp>
      <p:sp>
        <p:nvSpPr>
          <p:cNvPr name="TextBox 13" id="13"/>
          <p:cNvSpPr txBox="true"/>
          <p:nvPr/>
        </p:nvSpPr>
        <p:spPr>
          <a:xfrm rot="0">
            <a:off x="832787" y="4832304"/>
            <a:ext cx="6532484" cy="1834397"/>
          </a:xfrm>
          <a:prstGeom prst="rect">
            <a:avLst/>
          </a:prstGeom>
        </p:spPr>
        <p:txBody>
          <a:bodyPr anchor="t" rtlCol="false" tIns="0" lIns="0" bIns="0" rIns="0">
            <a:spAutoFit/>
          </a:bodyPr>
          <a:lstStyle/>
          <a:p>
            <a:pPr algn="ctr">
              <a:lnSpc>
                <a:spcPts val="4199"/>
              </a:lnSpc>
            </a:pPr>
            <a:r>
              <a:rPr lang="en-US" b="true" sz="2799" spc="83" u="sng">
                <a:solidFill>
                  <a:srgbClr val="1D4355"/>
                </a:solidFill>
                <a:latin typeface="Montserrat Bold"/>
                <a:ea typeface="Montserrat Bold"/>
                <a:cs typeface="Montserrat Bold"/>
                <a:sym typeface="Montserrat Bold"/>
              </a:rPr>
              <a:t>Aligned Incentives:</a:t>
            </a:r>
          </a:p>
          <a:p>
            <a:pPr algn="ctr">
              <a:lnSpc>
                <a:spcPts val="3599"/>
              </a:lnSpc>
              <a:spcBef>
                <a:spcPct val="0"/>
              </a:spcBef>
            </a:pPr>
            <a:r>
              <a:rPr lang="en-US" b="true" sz="2399" spc="71">
                <a:solidFill>
                  <a:srgbClr val="1D4355"/>
                </a:solidFill>
                <a:latin typeface="Montserrat Bold"/>
                <a:ea typeface="Montserrat Bold"/>
                <a:cs typeface="Montserrat Bold"/>
                <a:sym typeface="Montserrat Bold"/>
              </a:rPr>
              <a:t>No markups</a:t>
            </a:r>
            <a:r>
              <a:rPr lang="en-US" sz="2399" spc="71">
                <a:solidFill>
                  <a:srgbClr val="1D4355"/>
                </a:solidFill>
                <a:latin typeface="Montserrat"/>
                <a:ea typeface="Montserrat"/>
                <a:cs typeface="Montserrat"/>
                <a:sym typeface="Montserrat"/>
              </a:rPr>
              <a:t>, we focus on driving savings and value—</a:t>
            </a:r>
            <a:r>
              <a:rPr lang="en-US" b="true" sz="2399" spc="71">
                <a:solidFill>
                  <a:srgbClr val="1D4355"/>
                </a:solidFill>
                <a:latin typeface="Montserrat Bold"/>
                <a:ea typeface="Montserrat Bold"/>
                <a:cs typeface="Montserrat Bold"/>
                <a:sym typeface="Montserrat Bold"/>
              </a:rPr>
              <a:t>not profiting off higher drug prices.</a:t>
            </a:r>
          </a:p>
        </p:txBody>
      </p:sp>
      <p:sp>
        <p:nvSpPr>
          <p:cNvPr name="Freeform 14" id="14"/>
          <p:cNvSpPr/>
          <p:nvPr/>
        </p:nvSpPr>
        <p:spPr>
          <a:xfrm flipH="false" flipV="false" rot="0">
            <a:off x="-3717665" y="2798599"/>
            <a:ext cx="5163086" cy="4928401"/>
          </a:xfrm>
          <a:custGeom>
            <a:avLst/>
            <a:gdLst/>
            <a:ahLst/>
            <a:cxnLst/>
            <a:rect r="r" b="b" t="t" l="l"/>
            <a:pathLst>
              <a:path h="4928401" w="5163086">
                <a:moveTo>
                  <a:pt x="0" y="0"/>
                </a:moveTo>
                <a:lnTo>
                  <a:pt x="5163086" y="0"/>
                </a:lnTo>
                <a:lnTo>
                  <a:pt x="5163086" y="4928401"/>
                </a:lnTo>
                <a:lnTo>
                  <a:pt x="0" y="49284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2598608">
            <a:off x="13015434" y="-491563"/>
            <a:ext cx="7315200" cy="3271889"/>
          </a:xfrm>
          <a:custGeom>
            <a:avLst/>
            <a:gdLst/>
            <a:ahLst/>
            <a:cxnLst/>
            <a:rect r="r" b="b" t="t" l="l"/>
            <a:pathLst>
              <a:path h="3271889" w="7315200">
                <a:moveTo>
                  <a:pt x="0" y="0"/>
                </a:moveTo>
                <a:lnTo>
                  <a:pt x="7315200" y="0"/>
                </a:lnTo>
                <a:lnTo>
                  <a:pt x="7315200" y="3271889"/>
                </a:lnTo>
                <a:lnTo>
                  <a:pt x="0" y="327188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5810077" y="8701991"/>
            <a:ext cx="7315200" cy="3271889"/>
          </a:xfrm>
          <a:custGeom>
            <a:avLst/>
            <a:gdLst/>
            <a:ahLst/>
            <a:cxnLst/>
            <a:rect r="r" b="b" t="t" l="l"/>
            <a:pathLst>
              <a:path h="3271889" w="7315200">
                <a:moveTo>
                  <a:pt x="0" y="0"/>
                </a:moveTo>
                <a:lnTo>
                  <a:pt x="7315200" y="0"/>
                </a:lnTo>
                <a:lnTo>
                  <a:pt x="7315200" y="3271890"/>
                </a:lnTo>
                <a:lnTo>
                  <a:pt x="0" y="3271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0" y="9700628"/>
            <a:ext cx="18395101" cy="0"/>
          </a:xfrm>
          <a:prstGeom prst="line">
            <a:avLst/>
          </a:prstGeom>
          <a:ln cap="flat" w="38100">
            <a:solidFill>
              <a:srgbClr val="365B6D"/>
            </a:solidFill>
            <a:prstDash val="solid"/>
            <a:headEnd type="none" len="sm" w="sm"/>
            <a:tailEnd type="none" len="sm" w="sm"/>
          </a:ln>
        </p:spPr>
      </p:sp>
      <p:sp>
        <p:nvSpPr>
          <p:cNvPr name="Freeform 4" id="4"/>
          <p:cNvSpPr/>
          <p:nvPr/>
        </p:nvSpPr>
        <p:spPr>
          <a:xfrm flipH="false" flipV="false" rot="4714186">
            <a:off x="15259029" y="-487288"/>
            <a:ext cx="3176356" cy="3031976"/>
          </a:xfrm>
          <a:custGeom>
            <a:avLst/>
            <a:gdLst/>
            <a:ahLst/>
            <a:cxnLst/>
            <a:rect r="r" b="b" t="t" l="l"/>
            <a:pathLst>
              <a:path h="3031976" w="3176356">
                <a:moveTo>
                  <a:pt x="0" y="0"/>
                </a:moveTo>
                <a:lnTo>
                  <a:pt x="3176356" y="0"/>
                </a:lnTo>
                <a:lnTo>
                  <a:pt x="3176356" y="3031976"/>
                </a:lnTo>
                <a:lnTo>
                  <a:pt x="0" y="3031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rot="0">
            <a:off x="11850061" y="633531"/>
            <a:ext cx="6437939" cy="0"/>
          </a:xfrm>
          <a:prstGeom prst="line">
            <a:avLst/>
          </a:prstGeom>
          <a:ln cap="flat" w="28575">
            <a:solidFill>
              <a:srgbClr val="365B6D"/>
            </a:solidFill>
            <a:prstDash val="solid"/>
            <a:headEnd type="none" len="sm" w="sm"/>
            <a:tailEnd type="none" len="sm" w="sm"/>
          </a:ln>
        </p:spPr>
      </p:sp>
      <p:sp>
        <p:nvSpPr>
          <p:cNvPr name="Freeform 6" id="6"/>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6"/>
            <a:stretch>
              <a:fillRect l="0" t="-220335" r="0" b="-28182"/>
            </a:stretch>
          </a:blipFill>
        </p:spPr>
      </p:sp>
      <p:sp>
        <p:nvSpPr>
          <p:cNvPr name="Freeform 7" id="7"/>
          <p:cNvSpPr/>
          <p:nvPr/>
        </p:nvSpPr>
        <p:spPr>
          <a:xfrm flipH="false" flipV="false" rot="0">
            <a:off x="992738" y="3511295"/>
            <a:ext cx="16676937" cy="5190697"/>
          </a:xfrm>
          <a:custGeom>
            <a:avLst/>
            <a:gdLst/>
            <a:ahLst/>
            <a:cxnLst/>
            <a:rect r="r" b="b" t="t" l="l"/>
            <a:pathLst>
              <a:path h="5190697" w="16676937">
                <a:moveTo>
                  <a:pt x="0" y="0"/>
                </a:moveTo>
                <a:lnTo>
                  <a:pt x="16676937" y="0"/>
                </a:lnTo>
                <a:lnTo>
                  <a:pt x="16676937" y="5190696"/>
                </a:lnTo>
                <a:lnTo>
                  <a:pt x="0" y="51906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4916249">
            <a:off x="14737501" y="8651055"/>
            <a:ext cx="7315200" cy="3271889"/>
          </a:xfrm>
          <a:custGeom>
            <a:avLst/>
            <a:gdLst/>
            <a:ahLst/>
            <a:cxnLst/>
            <a:rect r="r" b="b" t="t" l="l"/>
            <a:pathLst>
              <a:path h="3271889" w="7315200">
                <a:moveTo>
                  <a:pt x="0" y="0"/>
                </a:moveTo>
                <a:lnTo>
                  <a:pt x="7315200" y="0"/>
                </a:lnTo>
                <a:lnTo>
                  <a:pt x="7315200" y="3271890"/>
                </a:lnTo>
                <a:lnTo>
                  <a:pt x="0" y="32718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7254041">
            <a:off x="-4001125" y="6976852"/>
            <a:ext cx="7315200" cy="3271889"/>
          </a:xfrm>
          <a:custGeom>
            <a:avLst/>
            <a:gdLst/>
            <a:ahLst/>
            <a:cxnLst/>
            <a:rect r="r" b="b" t="t" l="l"/>
            <a:pathLst>
              <a:path h="3271889" w="7315200">
                <a:moveTo>
                  <a:pt x="0" y="0"/>
                </a:moveTo>
                <a:lnTo>
                  <a:pt x="7315200" y="0"/>
                </a:lnTo>
                <a:lnTo>
                  <a:pt x="7315200" y="3271890"/>
                </a:lnTo>
                <a:lnTo>
                  <a:pt x="0" y="32718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1682537">
            <a:off x="9963291" y="-1983316"/>
            <a:ext cx="4236602" cy="4114800"/>
          </a:xfrm>
          <a:custGeom>
            <a:avLst/>
            <a:gdLst/>
            <a:ahLst/>
            <a:cxnLst/>
            <a:rect r="r" b="b" t="t" l="l"/>
            <a:pathLst>
              <a:path h="4114800" w="4236602">
                <a:moveTo>
                  <a:pt x="0" y="0"/>
                </a:moveTo>
                <a:lnTo>
                  <a:pt x="4236602" y="0"/>
                </a:lnTo>
                <a:lnTo>
                  <a:pt x="4236602"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371235" y="1433275"/>
            <a:ext cx="10682839" cy="1173144"/>
          </a:xfrm>
          <a:prstGeom prst="rect">
            <a:avLst/>
          </a:prstGeom>
        </p:spPr>
        <p:txBody>
          <a:bodyPr anchor="t" rtlCol="false" tIns="0" lIns="0" bIns="0" rIns="0">
            <a:spAutoFit/>
          </a:bodyPr>
          <a:lstStyle/>
          <a:p>
            <a:pPr algn="l">
              <a:lnSpc>
                <a:spcPts val="9609"/>
              </a:lnSpc>
            </a:pPr>
            <a:r>
              <a:rPr lang="en-US" sz="6863" b="true">
                <a:solidFill>
                  <a:srgbClr val="0C615D"/>
                </a:solidFill>
                <a:latin typeface="Montserrat Bold"/>
                <a:ea typeface="Montserrat Bold"/>
                <a:cs typeface="Montserrat Bold"/>
                <a:sym typeface="Montserrat Bold"/>
              </a:rPr>
              <a:t>Seamless Integration</a:t>
            </a:r>
          </a:p>
        </p:txBody>
      </p:sp>
      <p:sp>
        <p:nvSpPr>
          <p:cNvPr name="TextBox 12" id="12"/>
          <p:cNvSpPr txBox="true"/>
          <p:nvPr/>
        </p:nvSpPr>
        <p:spPr>
          <a:xfrm rot="0">
            <a:off x="5810077" y="482355"/>
            <a:ext cx="3306558" cy="281747"/>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Classic Bold"/>
                <a:ea typeface="Montserrat Classic Bold"/>
                <a:cs typeface="Montserrat Classic Bold"/>
                <a:sym typeface="Montserrat Classic Bold"/>
              </a:rPr>
              <a:t>Feb. 2025</a:t>
            </a:r>
          </a:p>
        </p:txBody>
      </p:sp>
      <p:sp>
        <p:nvSpPr>
          <p:cNvPr name="TextBox 13" id="13"/>
          <p:cNvSpPr txBox="true"/>
          <p:nvPr/>
        </p:nvSpPr>
        <p:spPr>
          <a:xfrm rot="0">
            <a:off x="6418872" y="4042689"/>
            <a:ext cx="2088966" cy="1542884"/>
          </a:xfrm>
          <a:prstGeom prst="rect">
            <a:avLst/>
          </a:prstGeom>
        </p:spPr>
        <p:txBody>
          <a:bodyPr anchor="t" rtlCol="false" tIns="0" lIns="0" bIns="0" rIns="0">
            <a:spAutoFit/>
          </a:bodyPr>
          <a:lstStyle/>
          <a:p>
            <a:pPr algn="ctr">
              <a:lnSpc>
                <a:spcPts val="4199"/>
              </a:lnSpc>
            </a:pPr>
            <a:r>
              <a:rPr lang="en-US" sz="2999" b="true">
                <a:solidFill>
                  <a:srgbClr val="FFFFFF"/>
                </a:solidFill>
                <a:latin typeface="Montserrat Bold"/>
                <a:ea typeface="Montserrat Bold"/>
                <a:cs typeface="Montserrat Bold"/>
                <a:sym typeface="Montserrat Bold"/>
              </a:rPr>
              <a:t>Access</a:t>
            </a:r>
          </a:p>
          <a:p>
            <a:pPr algn="ctr">
              <a:lnSpc>
                <a:spcPts val="4199"/>
              </a:lnSpc>
            </a:pPr>
            <a:r>
              <a:rPr lang="en-US" sz="2999" b="true">
                <a:solidFill>
                  <a:srgbClr val="FFFFFF"/>
                </a:solidFill>
                <a:latin typeface="Montserrat Bold"/>
                <a:ea typeface="Montserrat Bold"/>
                <a:cs typeface="Montserrat Bold"/>
                <a:sym typeface="Montserrat Bold"/>
              </a:rPr>
              <a:t>to Admin</a:t>
            </a:r>
          </a:p>
          <a:p>
            <a:pPr algn="ctr">
              <a:lnSpc>
                <a:spcPts val="4199"/>
              </a:lnSpc>
              <a:spcBef>
                <a:spcPct val="0"/>
              </a:spcBef>
            </a:pPr>
            <a:r>
              <a:rPr lang="en-US" b="true" sz="2999">
                <a:solidFill>
                  <a:srgbClr val="FFFFFF"/>
                </a:solidFill>
                <a:latin typeface="Montserrat Bold"/>
                <a:ea typeface="Montserrat Bold"/>
                <a:cs typeface="Montserrat Bold"/>
                <a:sym typeface="Montserrat Bold"/>
              </a:rPr>
              <a:t>Portal</a:t>
            </a:r>
          </a:p>
        </p:txBody>
      </p:sp>
      <p:sp>
        <p:nvSpPr>
          <p:cNvPr name="TextBox 14" id="14"/>
          <p:cNvSpPr txBox="true"/>
          <p:nvPr/>
        </p:nvSpPr>
        <p:spPr>
          <a:xfrm rot="0">
            <a:off x="1951556" y="4304598"/>
            <a:ext cx="2610851" cy="1019064"/>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Montserrat Bold"/>
                <a:ea typeface="Montserrat Bold"/>
                <a:cs typeface="Montserrat Bold"/>
                <a:sym typeface="Montserrat Bold"/>
              </a:rPr>
              <a:t>Contract Negotiation </a:t>
            </a:r>
          </a:p>
        </p:txBody>
      </p:sp>
      <p:sp>
        <p:nvSpPr>
          <p:cNvPr name="TextBox 15" id="15"/>
          <p:cNvSpPr txBox="true"/>
          <p:nvPr/>
        </p:nvSpPr>
        <p:spPr>
          <a:xfrm rot="0">
            <a:off x="9912081" y="4304598"/>
            <a:ext cx="3033330" cy="1019064"/>
          </a:xfrm>
          <a:prstGeom prst="rect">
            <a:avLst/>
          </a:prstGeom>
        </p:spPr>
        <p:txBody>
          <a:bodyPr anchor="t" rtlCol="false" tIns="0" lIns="0" bIns="0" rIns="0">
            <a:spAutoFit/>
          </a:bodyPr>
          <a:lstStyle/>
          <a:p>
            <a:pPr algn="ctr">
              <a:lnSpc>
                <a:spcPts val="4199"/>
              </a:lnSpc>
            </a:pPr>
            <a:r>
              <a:rPr lang="en-US" sz="2999" b="true">
                <a:solidFill>
                  <a:srgbClr val="FFFFFF"/>
                </a:solidFill>
                <a:latin typeface="Montserrat Bold"/>
                <a:ea typeface="Montserrat Bold"/>
                <a:cs typeface="Montserrat Bold"/>
                <a:sym typeface="Montserrat Bold"/>
              </a:rPr>
              <a:t>Employee</a:t>
            </a:r>
          </a:p>
          <a:p>
            <a:pPr algn="ctr">
              <a:lnSpc>
                <a:spcPts val="4199"/>
              </a:lnSpc>
              <a:spcBef>
                <a:spcPct val="0"/>
              </a:spcBef>
            </a:pPr>
            <a:r>
              <a:rPr lang="en-US" b="true" sz="2999">
                <a:solidFill>
                  <a:srgbClr val="FFFFFF"/>
                </a:solidFill>
                <a:latin typeface="Montserrat Bold"/>
                <a:ea typeface="Montserrat Bold"/>
                <a:cs typeface="Montserrat Bold"/>
                <a:sym typeface="Montserrat Bold"/>
              </a:rPr>
              <a:t>Engagement</a:t>
            </a:r>
          </a:p>
        </p:txBody>
      </p:sp>
      <p:sp>
        <p:nvSpPr>
          <p:cNvPr name="TextBox 16" id="16"/>
          <p:cNvSpPr txBox="true"/>
          <p:nvPr/>
        </p:nvSpPr>
        <p:spPr>
          <a:xfrm rot="0">
            <a:off x="14345586" y="4042689"/>
            <a:ext cx="2088966" cy="1542884"/>
          </a:xfrm>
          <a:prstGeom prst="rect">
            <a:avLst/>
          </a:prstGeom>
        </p:spPr>
        <p:txBody>
          <a:bodyPr anchor="t" rtlCol="false" tIns="0" lIns="0" bIns="0" rIns="0">
            <a:spAutoFit/>
          </a:bodyPr>
          <a:lstStyle/>
          <a:p>
            <a:pPr algn="ctr">
              <a:lnSpc>
                <a:spcPts val="4199"/>
              </a:lnSpc>
            </a:pPr>
            <a:r>
              <a:rPr lang="en-US" sz="2999" b="true">
                <a:solidFill>
                  <a:srgbClr val="FFFFFF"/>
                </a:solidFill>
                <a:latin typeface="Montserrat Bold"/>
                <a:ea typeface="Montserrat Bold"/>
                <a:cs typeface="Montserrat Bold"/>
                <a:sym typeface="Montserrat Bold"/>
              </a:rPr>
              <a:t>Pharmacy</a:t>
            </a:r>
          </a:p>
          <a:p>
            <a:pPr algn="ctr">
              <a:lnSpc>
                <a:spcPts val="4199"/>
              </a:lnSpc>
            </a:pPr>
            <a:r>
              <a:rPr lang="en-US" sz="2999" b="true">
                <a:solidFill>
                  <a:srgbClr val="FFFFFF"/>
                </a:solidFill>
                <a:latin typeface="Montserrat Bold"/>
                <a:ea typeface="Montserrat Bold"/>
                <a:cs typeface="Montserrat Bold"/>
                <a:sym typeface="Montserrat Bold"/>
              </a:rPr>
              <a:t>Services</a:t>
            </a:r>
          </a:p>
          <a:p>
            <a:pPr algn="ctr">
              <a:lnSpc>
                <a:spcPts val="4199"/>
              </a:lnSpc>
              <a:spcBef>
                <a:spcPct val="0"/>
              </a:spcBef>
            </a:pPr>
            <a:r>
              <a:rPr lang="en-US" b="true" sz="2999">
                <a:solidFill>
                  <a:srgbClr val="FFFFFF"/>
                </a:solidFill>
                <a:latin typeface="Montserrat Bold"/>
                <a:ea typeface="Montserrat Bold"/>
                <a:cs typeface="Montserrat Bold"/>
                <a:sym typeface="Montserrat Bold"/>
              </a:rPr>
              <a:t>Rendered</a:t>
            </a:r>
          </a:p>
        </p:txBody>
      </p:sp>
      <p:sp>
        <p:nvSpPr>
          <p:cNvPr name="TextBox 17" id="17"/>
          <p:cNvSpPr txBox="true"/>
          <p:nvPr/>
        </p:nvSpPr>
        <p:spPr>
          <a:xfrm rot="0">
            <a:off x="2212498" y="7920785"/>
            <a:ext cx="2088966" cy="692012"/>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Montserrat Bold"/>
                <a:ea typeface="Montserrat Bold"/>
                <a:cs typeface="Montserrat Bold"/>
                <a:sym typeface="Montserrat Bold"/>
              </a:rPr>
              <a:t>Contract Execution </a:t>
            </a:r>
          </a:p>
        </p:txBody>
      </p:sp>
      <p:sp>
        <p:nvSpPr>
          <p:cNvPr name="TextBox 18" id="18"/>
          <p:cNvSpPr txBox="true"/>
          <p:nvPr/>
        </p:nvSpPr>
        <p:spPr>
          <a:xfrm rot="0">
            <a:off x="6142355" y="7920785"/>
            <a:ext cx="2088966" cy="692012"/>
          </a:xfrm>
          <a:prstGeom prst="rect">
            <a:avLst/>
          </a:prstGeom>
        </p:spPr>
        <p:txBody>
          <a:bodyPr anchor="t" rtlCol="false" tIns="0" lIns="0" bIns="0" rIns="0">
            <a:spAutoFit/>
          </a:bodyPr>
          <a:lstStyle/>
          <a:p>
            <a:pPr algn="ctr">
              <a:lnSpc>
                <a:spcPts val="2800"/>
              </a:lnSpc>
            </a:pPr>
            <a:r>
              <a:rPr lang="en-US" sz="2000" b="true">
                <a:solidFill>
                  <a:srgbClr val="FFFFFF"/>
                </a:solidFill>
                <a:latin typeface="Montserrat Bold"/>
                <a:ea typeface="Montserrat Bold"/>
                <a:cs typeface="Montserrat Bold"/>
                <a:sym typeface="Montserrat Bold"/>
              </a:rPr>
              <a:t>Admin</a:t>
            </a:r>
          </a:p>
          <a:p>
            <a:pPr algn="ctr">
              <a:lnSpc>
                <a:spcPts val="2800"/>
              </a:lnSpc>
              <a:spcBef>
                <a:spcPct val="0"/>
              </a:spcBef>
            </a:pPr>
            <a:r>
              <a:rPr lang="en-US" b="true" sz="2000">
                <a:solidFill>
                  <a:srgbClr val="FFFFFF"/>
                </a:solidFill>
                <a:latin typeface="Montserrat Bold"/>
                <a:ea typeface="Montserrat Bold"/>
                <a:cs typeface="Montserrat Bold"/>
                <a:sym typeface="Montserrat Bold"/>
              </a:rPr>
              <a:t>Reports</a:t>
            </a:r>
          </a:p>
        </p:txBody>
      </p:sp>
      <p:sp>
        <p:nvSpPr>
          <p:cNvPr name="TextBox 19" id="19"/>
          <p:cNvSpPr txBox="true"/>
          <p:nvPr/>
        </p:nvSpPr>
        <p:spPr>
          <a:xfrm rot="0">
            <a:off x="10384263" y="7920785"/>
            <a:ext cx="2088966" cy="692012"/>
          </a:xfrm>
          <a:prstGeom prst="rect">
            <a:avLst/>
          </a:prstGeom>
        </p:spPr>
        <p:txBody>
          <a:bodyPr anchor="t" rtlCol="false" tIns="0" lIns="0" bIns="0" rIns="0">
            <a:spAutoFit/>
          </a:bodyPr>
          <a:lstStyle/>
          <a:p>
            <a:pPr algn="ctr">
              <a:lnSpc>
                <a:spcPts val="2800"/>
              </a:lnSpc>
            </a:pPr>
            <a:r>
              <a:rPr lang="en-US" sz="2000" b="true">
                <a:solidFill>
                  <a:srgbClr val="FFFFFF"/>
                </a:solidFill>
                <a:latin typeface="Montserrat Bold"/>
                <a:ea typeface="Montserrat Bold"/>
                <a:cs typeface="Montserrat Bold"/>
                <a:sym typeface="Montserrat Bold"/>
              </a:rPr>
              <a:t>Employee </a:t>
            </a:r>
          </a:p>
          <a:p>
            <a:pPr algn="ctr">
              <a:lnSpc>
                <a:spcPts val="2800"/>
              </a:lnSpc>
              <a:spcBef>
                <a:spcPct val="0"/>
              </a:spcBef>
            </a:pPr>
            <a:r>
              <a:rPr lang="en-US" b="true" sz="2000">
                <a:solidFill>
                  <a:srgbClr val="FFFFFF"/>
                </a:solidFill>
                <a:latin typeface="Montserrat Bold"/>
                <a:ea typeface="Montserrat Bold"/>
                <a:cs typeface="Montserrat Bold"/>
                <a:sym typeface="Montserrat Bold"/>
              </a:rPr>
              <a:t>enrollment</a:t>
            </a:r>
          </a:p>
        </p:txBody>
      </p:sp>
      <p:sp>
        <p:nvSpPr>
          <p:cNvPr name="TextBox 20" id="20"/>
          <p:cNvSpPr txBox="true"/>
          <p:nvPr/>
        </p:nvSpPr>
        <p:spPr>
          <a:xfrm rot="0">
            <a:off x="14002067" y="7920785"/>
            <a:ext cx="2088966" cy="692012"/>
          </a:xfrm>
          <a:prstGeom prst="rect">
            <a:avLst/>
          </a:prstGeom>
        </p:spPr>
        <p:txBody>
          <a:bodyPr anchor="t" rtlCol="false" tIns="0" lIns="0" bIns="0" rIns="0">
            <a:spAutoFit/>
          </a:bodyPr>
          <a:lstStyle/>
          <a:p>
            <a:pPr algn="ctr">
              <a:lnSpc>
                <a:spcPts val="2800"/>
              </a:lnSpc>
            </a:pPr>
            <a:r>
              <a:rPr lang="en-US" sz="2000" b="true">
                <a:solidFill>
                  <a:srgbClr val="FFFFFF"/>
                </a:solidFill>
                <a:latin typeface="Montserrat Bold"/>
                <a:ea typeface="Montserrat Bold"/>
                <a:cs typeface="Montserrat Bold"/>
                <a:sym typeface="Montserrat Bold"/>
              </a:rPr>
              <a:t>Fulfillment &amp;</a:t>
            </a:r>
          </a:p>
          <a:p>
            <a:pPr algn="ctr">
              <a:lnSpc>
                <a:spcPts val="2800"/>
              </a:lnSpc>
              <a:spcBef>
                <a:spcPct val="0"/>
              </a:spcBef>
            </a:pPr>
            <a:r>
              <a:rPr lang="en-US" b="true" sz="2000">
                <a:solidFill>
                  <a:srgbClr val="FFFFFF"/>
                </a:solidFill>
                <a:latin typeface="Montserrat Bold"/>
                <a:ea typeface="Montserrat Bold"/>
                <a:cs typeface="Montserrat Bold"/>
                <a:sym typeface="Montserrat Bold"/>
              </a:rPr>
              <a:t>Reporting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5780224">
            <a:off x="7068343" y="4995392"/>
            <a:ext cx="9898504" cy="9448572"/>
          </a:xfrm>
          <a:custGeom>
            <a:avLst/>
            <a:gdLst/>
            <a:ahLst/>
            <a:cxnLst/>
            <a:rect r="r" b="b" t="t" l="l"/>
            <a:pathLst>
              <a:path h="9448572" w="9898504">
                <a:moveTo>
                  <a:pt x="0" y="0"/>
                </a:moveTo>
                <a:lnTo>
                  <a:pt x="9898504" y="0"/>
                </a:lnTo>
                <a:lnTo>
                  <a:pt x="9898504" y="9448572"/>
                </a:lnTo>
                <a:lnTo>
                  <a:pt x="0" y="94485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02976" y="6258311"/>
            <a:ext cx="6396789" cy="413189"/>
          </a:xfrm>
          <a:prstGeom prst="rect">
            <a:avLst/>
          </a:prstGeom>
        </p:spPr>
        <p:txBody>
          <a:bodyPr anchor="t" rtlCol="false" tIns="0" lIns="0" bIns="0" rIns="0">
            <a:spAutoFit/>
          </a:bodyPr>
          <a:lstStyle/>
          <a:p>
            <a:pPr algn="l">
              <a:lnSpc>
                <a:spcPts val="3474"/>
              </a:lnSpc>
            </a:pPr>
            <a:r>
              <a:rPr lang="en-US" sz="2482" b="true">
                <a:solidFill>
                  <a:srgbClr val="FFFFFF"/>
                </a:solidFill>
                <a:latin typeface="Montserrat Bold"/>
                <a:ea typeface="Montserrat Bold"/>
                <a:cs typeface="Montserrat Bold"/>
                <a:sym typeface="Montserrat Bold"/>
              </a:rPr>
              <a:t>4701 SW Admiral Way Unit#336</a:t>
            </a:r>
          </a:p>
        </p:txBody>
      </p:sp>
      <p:sp>
        <p:nvSpPr>
          <p:cNvPr name="TextBox 4" id="4"/>
          <p:cNvSpPr txBox="true"/>
          <p:nvPr/>
        </p:nvSpPr>
        <p:spPr>
          <a:xfrm rot="0">
            <a:off x="10202976" y="7027057"/>
            <a:ext cx="6396789" cy="430318"/>
          </a:xfrm>
          <a:prstGeom prst="rect">
            <a:avLst/>
          </a:prstGeom>
        </p:spPr>
        <p:txBody>
          <a:bodyPr anchor="t" rtlCol="false" tIns="0" lIns="0" bIns="0" rIns="0">
            <a:spAutoFit/>
          </a:bodyPr>
          <a:lstStyle/>
          <a:p>
            <a:pPr algn="l">
              <a:lnSpc>
                <a:spcPts val="3580"/>
              </a:lnSpc>
              <a:spcBef>
                <a:spcPct val="0"/>
              </a:spcBef>
            </a:pPr>
            <a:r>
              <a:rPr lang="en-US" b="true" sz="2557">
                <a:solidFill>
                  <a:srgbClr val="FFFFFF"/>
                </a:solidFill>
                <a:latin typeface="Montserrat Bold"/>
                <a:ea typeface="Montserrat Bold"/>
                <a:cs typeface="Montserrat Bold"/>
                <a:sym typeface="Montserrat Bold"/>
              </a:rPr>
              <a:t>Seattle, WA 98116</a:t>
            </a:r>
          </a:p>
        </p:txBody>
      </p:sp>
      <p:sp>
        <p:nvSpPr>
          <p:cNvPr name="TextBox 5" id="5"/>
          <p:cNvSpPr txBox="true"/>
          <p:nvPr/>
        </p:nvSpPr>
        <p:spPr>
          <a:xfrm rot="0">
            <a:off x="10202976" y="7866950"/>
            <a:ext cx="2462020" cy="412750"/>
          </a:xfrm>
          <a:prstGeom prst="rect">
            <a:avLst/>
          </a:prstGeom>
        </p:spPr>
        <p:txBody>
          <a:bodyPr anchor="t" rtlCol="false" tIns="0" lIns="0" bIns="0" rIns="0">
            <a:spAutoFit/>
          </a:bodyPr>
          <a:lstStyle/>
          <a:p>
            <a:pPr algn="l">
              <a:lnSpc>
                <a:spcPts val="3499"/>
              </a:lnSpc>
            </a:pPr>
            <a:r>
              <a:rPr lang="en-US" sz="2499" b="true">
                <a:solidFill>
                  <a:srgbClr val="FFFFFF"/>
                </a:solidFill>
                <a:latin typeface="Montserrat Bold"/>
                <a:ea typeface="Montserrat Bold"/>
                <a:cs typeface="Montserrat Bold"/>
                <a:sym typeface="Montserrat Bold"/>
              </a:rPr>
              <a:t>423-839-3523</a:t>
            </a:r>
          </a:p>
        </p:txBody>
      </p:sp>
      <p:sp>
        <p:nvSpPr>
          <p:cNvPr name="TextBox 6" id="6"/>
          <p:cNvSpPr txBox="true"/>
          <p:nvPr/>
        </p:nvSpPr>
        <p:spPr>
          <a:xfrm rot="0">
            <a:off x="10236392" y="8689727"/>
            <a:ext cx="5254506" cy="412750"/>
          </a:xfrm>
          <a:prstGeom prst="rect">
            <a:avLst/>
          </a:prstGeom>
        </p:spPr>
        <p:txBody>
          <a:bodyPr anchor="t" rtlCol="false" tIns="0" lIns="0" bIns="0" rIns="0">
            <a:spAutoFit/>
          </a:bodyPr>
          <a:lstStyle/>
          <a:p>
            <a:pPr algn="l">
              <a:lnSpc>
                <a:spcPts val="3499"/>
              </a:lnSpc>
            </a:pPr>
            <a:r>
              <a:rPr lang="en-US" sz="2499" b="true">
                <a:solidFill>
                  <a:srgbClr val="FFFFFF"/>
                </a:solidFill>
                <a:latin typeface="Montserrat Bold"/>
                <a:ea typeface="Montserrat Bold"/>
                <a:cs typeface="Montserrat Bold"/>
                <a:sym typeface="Montserrat Bold"/>
              </a:rPr>
              <a:t>www.pillardrugclub.com</a:t>
            </a:r>
          </a:p>
        </p:txBody>
      </p:sp>
      <p:sp>
        <p:nvSpPr>
          <p:cNvPr name="TextBox 7" id="7"/>
          <p:cNvSpPr txBox="true"/>
          <p:nvPr/>
        </p:nvSpPr>
        <p:spPr>
          <a:xfrm rot="0">
            <a:off x="1028700" y="1307057"/>
            <a:ext cx="13059340" cy="2415992"/>
          </a:xfrm>
          <a:prstGeom prst="rect">
            <a:avLst/>
          </a:prstGeom>
        </p:spPr>
        <p:txBody>
          <a:bodyPr anchor="t" rtlCol="false" tIns="0" lIns="0" bIns="0" rIns="0">
            <a:spAutoFit/>
          </a:bodyPr>
          <a:lstStyle/>
          <a:p>
            <a:pPr algn="l">
              <a:lnSpc>
                <a:spcPts val="20345"/>
              </a:lnSpc>
            </a:pPr>
            <a:r>
              <a:rPr lang="en-US" sz="14532" b="true">
                <a:solidFill>
                  <a:srgbClr val="0C615D"/>
                </a:solidFill>
                <a:latin typeface="Montserrat Bold"/>
                <a:ea typeface="Montserrat Bold"/>
                <a:cs typeface="Montserrat Bold"/>
                <a:sym typeface="Montserrat Bold"/>
              </a:rPr>
              <a:t>Thank You</a:t>
            </a:r>
          </a:p>
        </p:txBody>
      </p:sp>
      <p:sp>
        <p:nvSpPr>
          <p:cNvPr name="TextBox 8" id="8"/>
          <p:cNvSpPr txBox="true"/>
          <p:nvPr/>
        </p:nvSpPr>
        <p:spPr>
          <a:xfrm rot="0">
            <a:off x="1028700" y="3783207"/>
            <a:ext cx="11403366" cy="2888293"/>
          </a:xfrm>
          <a:prstGeom prst="rect">
            <a:avLst/>
          </a:prstGeom>
        </p:spPr>
        <p:txBody>
          <a:bodyPr anchor="t" rtlCol="false" tIns="0" lIns="0" bIns="0" rIns="0">
            <a:spAutoFit/>
          </a:bodyPr>
          <a:lstStyle/>
          <a:p>
            <a:pPr algn="l">
              <a:lnSpc>
                <a:spcPts val="4602"/>
              </a:lnSpc>
            </a:pPr>
            <a:r>
              <a:rPr lang="en-US" sz="3287">
                <a:solidFill>
                  <a:srgbClr val="0C615D"/>
                </a:solidFill>
                <a:latin typeface="Montserrat Classic"/>
                <a:ea typeface="Montserrat Classic"/>
                <a:cs typeface="Montserrat Classic"/>
                <a:sym typeface="Montserrat Classic"/>
              </a:rPr>
              <a:t>Experience the savings firsthand. Get a free cost analysis of your current pharmacy spend versus Pillar Drug Club. Contact us at </a:t>
            </a:r>
            <a:r>
              <a:rPr lang="en-US" sz="3287" b="true">
                <a:solidFill>
                  <a:srgbClr val="0C615D"/>
                </a:solidFill>
                <a:latin typeface="Montserrat Classic Bold"/>
                <a:ea typeface="Montserrat Classic Bold"/>
                <a:cs typeface="Montserrat Classic Bold"/>
                <a:sym typeface="Montserrat Classic Bold"/>
              </a:rPr>
              <a:t>seth@pillardrugclub.com</a:t>
            </a:r>
            <a:r>
              <a:rPr lang="en-US" sz="3287">
                <a:solidFill>
                  <a:srgbClr val="0C615D"/>
                </a:solidFill>
                <a:latin typeface="Montserrat Classic"/>
                <a:ea typeface="Montserrat Classic"/>
                <a:cs typeface="Montserrat Classic"/>
                <a:sym typeface="Montserrat Classic"/>
              </a:rPr>
              <a:t> to start your free claims assessment today!</a:t>
            </a:r>
          </a:p>
          <a:p>
            <a:pPr algn="l">
              <a:lnSpc>
                <a:spcPts val="4602"/>
              </a:lnSpc>
              <a:spcBef>
                <a:spcPct val="0"/>
              </a:spcBef>
            </a:pPr>
          </a:p>
        </p:txBody>
      </p:sp>
      <p:sp>
        <p:nvSpPr>
          <p:cNvPr name="Freeform 9" id="9"/>
          <p:cNvSpPr/>
          <p:nvPr/>
        </p:nvSpPr>
        <p:spPr>
          <a:xfrm flipH="false" flipV="false" rot="0">
            <a:off x="16860752" y="-1635945"/>
            <a:ext cx="7315200" cy="3271889"/>
          </a:xfrm>
          <a:custGeom>
            <a:avLst/>
            <a:gdLst/>
            <a:ahLst/>
            <a:cxnLst/>
            <a:rect r="r" b="b" t="t" l="l"/>
            <a:pathLst>
              <a:path h="3271889" w="7315200">
                <a:moveTo>
                  <a:pt x="0" y="0"/>
                </a:moveTo>
                <a:lnTo>
                  <a:pt x="7315200" y="0"/>
                </a:lnTo>
                <a:lnTo>
                  <a:pt x="7315200" y="3271890"/>
                </a:lnTo>
                <a:lnTo>
                  <a:pt x="0" y="3271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0" id="10"/>
          <p:cNvSpPr/>
          <p:nvPr/>
        </p:nvSpPr>
        <p:spPr>
          <a:xfrm rot="0">
            <a:off x="0" y="9700628"/>
            <a:ext cx="18395101" cy="0"/>
          </a:xfrm>
          <a:prstGeom prst="line">
            <a:avLst/>
          </a:prstGeom>
          <a:ln cap="flat" w="38100">
            <a:solidFill>
              <a:srgbClr val="365B6D"/>
            </a:solidFill>
            <a:prstDash val="solid"/>
            <a:headEnd type="none" len="sm" w="sm"/>
            <a:tailEnd type="none" len="sm" w="sm"/>
          </a:ln>
        </p:spPr>
      </p:sp>
      <p:sp>
        <p:nvSpPr>
          <p:cNvPr name="AutoShape 11" id="11"/>
          <p:cNvSpPr/>
          <p:nvPr/>
        </p:nvSpPr>
        <p:spPr>
          <a:xfrm rot="0">
            <a:off x="11850061" y="633531"/>
            <a:ext cx="6437939" cy="0"/>
          </a:xfrm>
          <a:prstGeom prst="line">
            <a:avLst/>
          </a:prstGeom>
          <a:ln cap="flat" w="28575">
            <a:solidFill>
              <a:srgbClr val="365B6D"/>
            </a:solidFill>
            <a:prstDash val="solid"/>
            <a:headEnd type="none" len="sm" w="sm"/>
            <a:tailEnd type="none" len="sm" w="sm"/>
          </a:ln>
        </p:spPr>
      </p:sp>
      <p:sp>
        <p:nvSpPr>
          <p:cNvPr name="TextBox 12" id="12"/>
          <p:cNvSpPr txBox="true"/>
          <p:nvPr/>
        </p:nvSpPr>
        <p:spPr>
          <a:xfrm rot="0">
            <a:off x="5810077" y="454538"/>
            <a:ext cx="2586480" cy="281747"/>
          </a:xfrm>
          <a:prstGeom prst="rect">
            <a:avLst/>
          </a:prstGeom>
        </p:spPr>
        <p:txBody>
          <a:bodyPr anchor="t" rtlCol="false" tIns="0" lIns="0" bIns="0" rIns="0">
            <a:spAutoFit/>
          </a:bodyPr>
          <a:lstStyle/>
          <a:p>
            <a:pPr algn="l">
              <a:lnSpc>
                <a:spcPts val="2318"/>
              </a:lnSpc>
            </a:pPr>
            <a:r>
              <a:rPr lang="en-US" sz="1656" b="true">
                <a:solidFill>
                  <a:srgbClr val="0C615D"/>
                </a:solidFill>
                <a:latin typeface="Montserrat Classic Bold"/>
                <a:ea typeface="Montserrat Classic Bold"/>
                <a:cs typeface="Montserrat Classic Bold"/>
                <a:sym typeface="Montserrat Classic Bold"/>
              </a:rPr>
              <a:t>Feb. 2025</a:t>
            </a:r>
          </a:p>
        </p:txBody>
      </p:sp>
      <p:sp>
        <p:nvSpPr>
          <p:cNvPr name="Freeform 13" id="13"/>
          <p:cNvSpPr/>
          <p:nvPr/>
        </p:nvSpPr>
        <p:spPr>
          <a:xfrm flipH="false" flipV="false" rot="2145562">
            <a:off x="12653024" y="-1439744"/>
            <a:ext cx="4236602" cy="4114800"/>
          </a:xfrm>
          <a:custGeom>
            <a:avLst/>
            <a:gdLst/>
            <a:ahLst/>
            <a:cxnLst/>
            <a:rect r="r" b="b" t="t" l="l"/>
            <a:pathLst>
              <a:path h="4114800" w="4236602">
                <a:moveTo>
                  <a:pt x="0" y="0"/>
                </a:moveTo>
                <a:lnTo>
                  <a:pt x="4236603" y="0"/>
                </a:lnTo>
                <a:lnTo>
                  <a:pt x="423660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145562">
            <a:off x="-2118301" y="6932010"/>
            <a:ext cx="4236602" cy="4114800"/>
          </a:xfrm>
          <a:custGeom>
            <a:avLst/>
            <a:gdLst/>
            <a:ahLst/>
            <a:cxnLst/>
            <a:rect r="r" b="b" t="t" l="l"/>
            <a:pathLst>
              <a:path h="4114800" w="4236602">
                <a:moveTo>
                  <a:pt x="0" y="0"/>
                </a:moveTo>
                <a:lnTo>
                  <a:pt x="4236602" y="0"/>
                </a:lnTo>
                <a:lnTo>
                  <a:pt x="42366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028700" y="492638"/>
            <a:ext cx="2934253" cy="909142"/>
          </a:xfrm>
          <a:custGeom>
            <a:avLst/>
            <a:gdLst/>
            <a:ahLst/>
            <a:cxnLst/>
            <a:rect r="r" b="b" t="t" l="l"/>
            <a:pathLst>
              <a:path h="909142" w="2934253">
                <a:moveTo>
                  <a:pt x="0" y="0"/>
                </a:moveTo>
                <a:lnTo>
                  <a:pt x="2934253" y="0"/>
                </a:lnTo>
                <a:lnTo>
                  <a:pt x="2934253" y="909142"/>
                </a:lnTo>
                <a:lnTo>
                  <a:pt x="0" y="909142"/>
                </a:lnTo>
                <a:lnTo>
                  <a:pt x="0" y="0"/>
                </a:lnTo>
                <a:close/>
              </a:path>
            </a:pathLst>
          </a:custGeom>
          <a:blipFill>
            <a:blip r:embed="rId8"/>
            <a:stretch>
              <a:fillRect l="0" t="-220335" r="0" b="-28182"/>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DAGftDekKUc</dc:identifier>
  <dcterms:modified xsi:type="dcterms:W3CDTF">2011-08-01T06:04:30Z</dcterms:modified>
  <cp:revision>1</cp:revision>
  <dc:title>Main File.pptx</dc:title>
</cp:coreProperties>
</file>